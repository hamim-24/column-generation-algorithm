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12"/>
  </p:normalViewPr>
  <p:slideViewPr>
    <p:cSldViewPr snapToGrid="0">
      <p:cViewPr varScale="1">
        <p:scale>
          <a:sx n="52" d="100"/>
          <a:sy n="52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Heron flying low over a beach with a short fence in the foreground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View of beach and sea from a grassy sand dune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11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8" name="Column Generation Algorithm:…"/>
          <p:cNvSpPr txBox="1">
            <a:spLocks noGrp="1"/>
          </p:cNvSpPr>
          <p:nvPr>
            <p:ph type="ctrTitle"/>
          </p:nvPr>
        </p:nvSpPr>
        <p:spPr>
          <a:xfrm>
            <a:off x="1778000" y="1782342"/>
            <a:ext cx="20828000" cy="4008858"/>
          </a:xfrm>
          <a:prstGeom prst="rect">
            <a:avLst/>
          </a:prstGeom>
        </p:spPr>
        <p:txBody>
          <a:bodyPr/>
          <a:lstStyle/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2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Column Generation Algorithm:</a:t>
            </a: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2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Optimizing Large-Scale LP &amp; IP Problems</a:t>
            </a: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7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A  term Presentation for Crew Scheduling Problem</a:t>
            </a:r>
          </a:p>
        </p:txBody>
      </p:sp>
      <p:sp>
        <p:nvSpPr>
          <p:cNvPr id="139" name="Presented by: Md. Inzamamul Lohani…"/>
          <p:cNvSpPr txBox="1"/>
          <p:nvPr/>
        </p:nvSpPr>
        <p:spPr>
          <a:xfrm>
            <a:off x="1992165" y="9467572"/>
            <a:ext cx="8668706" cy="2464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Presented by: Md. Inzamamul Lohani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Institute of Information Technology (IIT),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University of Dhaka</a:t>
            </a:r>
          </a:p>
        </p:txBody>
      </p:sp>
      <p:sp>
        <p:nvSpPr>
          <p:cNvPr id="140" name="Supervisor: Shah Mostafa Khaled, Ph.D.…"/>
          <p:cNvSpPr txBox="1"/>
          <p:nvPr/>
        </p:nvSpPr>
        <p:spPr>
          <a:xfrm>
            <a:off x="13872652" y="9546837"/>
            <a:ext cx="9292560" cy="1892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Supervisor: Shah Mostafa Khaled, Ph.D.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Institute of Information Technology (IIT),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University of Dhaka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43" name="Technologies Used"/>
          <p:cNvSpPr txBox="1">
            <a:spLocks noGrp="1"/>
          </p:cNvSpPr>
          <p:nvPr>
            <p:ph type="title" idx="4294967295"/>
          </p:nvPr>
        </p:nvSpPr>
        <p:spPr>
          <a:xfrm>
            <a:off x="1689100" y="12319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Technologies Used </a:t>
            </a:r>
          </a:p>
        </p:txBody>
      </p:sp>
      <p:sp>
        <p:nvSpPr>
          <p:cNvPr id="144" name="Languages or Tools to be used:…"/>
          <p:cNvSpPr txBox="1">
            <a:spLocks noGrp="1"/>
          </p:cNvSpPr>
          <p:nvPr>
            <p:ph type="body" sz="half" idx="4294967295"/>
          </p:nvPr>
        </p:nvSpPr>
        <p:spPr>
          <a:xfrm>
            <a:off x="2448707" y="2400300"/>
            <a:ext cx="10746555" cy="9296400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2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2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Languages or Tools to be used:</a:t>
            </a:r>
          </a:p>
          <a:p>
            <a:pPr marL="0" lvl="1" indent="457200" defTabSz="12700">
              <a:lnSpc>
                <a:spcPct val="12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 - Simplex Method</a:t>
            </a:r>
          </a:p>
          <a:p>
            <a:pPr marL="0" lvl="1" indent="457200" defTabSz="12700">
              <a:lnSpc>
                <a:spcPct val="12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 - Dual Problem</a:t>
            </a:r>
          </a:p>
          <a:p>
            <a:pPr marL="0" indent="0" defTabSz="12700">
              <a:lnSpc>
                <a:spcPct val="12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2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br>
              <a:rPr sz="3800"/>
            </a:br>
            <a:r>
              <a:rPr sz="3400" b="1"/>
              <a:t>Programming Language</a:t>
            </a:r>
            <a:r>
              <a:rPr sz="3400"/>
              <a:t>: JAVA</a:t>
            </a:r>
            <a:br>
              <a:rPr sz="3400"/>
            </a:br>
            <a:r>
              <a:rPr sz="3400" b="1"/>
              <a:t>Libraries</a:t>
            </a:r>
            <a:r>
              <a:rPr sz="3400"/>
              <a:t>: IBM CPLEX Optimization Studio</a:t>
            </a:r>
            <a:br>
              <a:rPr sz="3400"/>
            </a:br>
            <a:r>
              <a:rPr sz="3400" b="1"/>
              <a:t>Tools</a:t>
            </a:r>
            <a:r>
              <a:rPr sz="3400"/>
              <a:t>: Git, VS Code </a:t>
            </a:r>
          </a:p>
          <a:p>
            <a:pPr marL="0" indent="0" defTabSz="12700">
              <a:lnSpc>
                <a:spcPct val="12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rPr b="1"/>
              <a:t>Platform</a:t>
            </a:r>
            <a:r>
              <a:t>: macOS</a:t>
            </a:r>
          </a:p>
          <a:p>
            <a:pPr marL="0" indent="0" defTabSz="12700">
              <a:lnSpc>
                <a:spcPct val="12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LOC: </a:t>
            </a:r>
            <a:r>
              <a:rPr b="0"/>
              <a:t>750+</a:t>
            </a:r>
          </a:p>
          <a:p>
            <a:pPr marL="0" indent="0" defTabSz="12700">
              <a:lnSpc>
                <a:spcPct val="12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Finished</a:t>
            </a:r>
            <a:r>
              <a:rPr b="0"/>
              <a:t>: About 70%</a:t>
            </a:r>
          </a:p>
        </p:txBody>
      </p:sp>
      <p:pic>
        <p:nvPicPr>
          <p:cNvPr id="145" name="Screenshot 2025-11-11 at 12.50.16 PM.png" descr="Screenshot 2025-11-11 at 12.50.16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710" y="7590992"/>
            <a:ext cx="6510239" cy="38339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48" name="Project Overview: Column Generation Algorithm…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/>
          <a:p>
            <a:pPr algn="l" defTabSz="914400">
              <a:tabLst>
                <a:tab pos="330200" algn="l"/>
                <a:tab pos="660400" algn="l"/>
                <a:tab pos="990600" algn="l"/>
                <a:tab pos="1333500" algn="l"/>
                <a:tab pos="1663700" algn="l"/>
                <a:tab pos="1993900" algn="l"/>
                <a:tab pos="2336800" algn="l"/>
                <a:tab pos="2667000" algn="l"/>
                <a:tab pos="2997200" algn="l"/>
                <a:tab pos="3340100" algn="l"/>
                <a:tab pos="3670300" algn="l"/>
                <a:tab pos="4000500" algn="l"/>
              </a:tabLst>
              <a:defRPr sz="6392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Project Overview: Column Generation Algorithm</a:t>
            </a:r>
          </a:p>
          <a:p>
            <a:pPr algn="l" defTabSz="914400">
              <a:tabLst>
                <a:tab pos="330200" algn="l"/>
                <a:tab pos="660400" algn="l"/>
                <a:tab pos="990600" algn="l"/>
                <a:tab pos="1333500" algn="l"/>
                <a:tab pos="1663700" algn="l"/>
                <a:tab pos="1993900" algn="l"/>
                <a:tab pos="2336800" algn="l"/>
                <a:tab pos="2667000" algn="l"/>
                <a:tab pos="2997200" algn="l"/>
                <a:tab pos="3340100" algn="l"/>
                <a:tab pos="3670300" algn="l"/>
                <a:tab pos="4000500" algn="l"/>
              </a:tabLst>
              <a:defRPr sz="6392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For Large-Scale LP &amp; IP Problems</a:t>
            </a:r>
          </a:p>
        </p:txBody>
      </p:sp>
      <p:sp>
        <p:nvSpPr>
          <p:cNvPr id="149" name="CGA Decomposition:…"/>
          <p:cNvSpPr txBox="1">
            <a:spLocks noGrp="1"/>
          </p:cNvSpPr>
          <p:nvPr>
            <p:ph type="body" sz="half" idx="4294967295"/>
          </p:nvPr>
        </p:nvSpPr>
        <p:spPr>
          <a:xfrm>
            <a:off x="2813513" y="4019169"/>
            <a:ext cx="13257928" cy="5677661"/>
          </a:xfrm>
          <a:prstGeom prst="rect">
            <a:avLst/>
          </a:prstGeom>
        </p:spPr>
        <p:txBody>
          <a:bodyPr/>
          <a:lstStyle/>
          <a:p>
            <a:pPr marL="165100" indent="-165100" defTabSz="12700">
              <a:spcBef>
                <a:spcPts val="0"/>
              </a:spcBef>
              <a:buSzTx/>
              <a:buNone/>
              <a:tabLst>
                <a:tab pos="63500" algn="r"/>
                <a:tab pos="165100" algn="l"/>
              </a:tabLst>
              <a:defRPr sz="42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CGA Decomposition:</a:t>
            </a:r>
          </a:p>
          <a:p>
            <a:pPr marL="165100" lvl="1" indent="292100" defTabSz="12700">
              <a:spcBef>
                <a:spcPts val="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- Decomposition technique for large-scale LPs</a:t>
            </a:r>
          </a:p>
          <a:p>
            <a:pPr marL="165100" lvl="1" indent="292100" defTabSz="12700">
              <a:spcBef>
                <a:spcPts val="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- 	It generates variables </a:t>
            </a:r>
            <a:r>
              <a:rPr b="1"/>
              <a:t>only when needed</a:t>
            </a:r>
          </a:p>
          <a:p>
            <a:pPr marL="165100" lvl="1" indent="292100" defTabSz="12700">
              <a:spcBef>
                <a:spcPts val="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- Instead of solving the full problem:</a:t>
            </a:r>
          </a:p>
          <a:p>
            <a:pPr marL="419100" lvl="2" indent="495300" defTabSz="12700">
              <a:spcBef>
                <a:spcPts val="0"/>
              </a:spcBef>
              <a:buSzTx/>
              <a:buNone/>
              <a:tabLst>
                <a:tab pos="317500" algn="r"/>
                <a:tab pos="419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- </a:t>
            </a:r>
            <a:r>
              <a:rPr b="1"/>
              <a:t>Master Problem:</a:t>
            </a:r>
            <a:r>
              <a:t>	 Start with a small subset of variables</a:t>
            </a:r>
          </a:p>
          <a:p>
            <a:pPr marL="419100" lvl="2" indent="495300" defTabSz="12700">
              <a:spcBef>
                <a:spcPts val="0"/>
              </a:spcBef>
              <a:buSzTx/>
              <a:buNone/>
              <a:tabLst>
                <a:tab pos="317500" algn="r"/>
                <a:tab pos="419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- </a:t>
            </a:r>
            <a:r>
              <a:rPr b="1"/>
              <a:t>Sub Problem: </a:t>
            </a:r>
            <a:r>
              <a:t>	Iteratively add promising variables</a:t>
            </a:r>
          </a:p>
        </p:txBody>
      </p:sp>
      <p:pic>
        <p:nvPicPr>
          <p:cNvPr id="150" name="Screenshot 2025-11-11 at 11.45.21 AM.png" descr="Screenshot 2025-11-11 at 11.45.21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3722" y="3682635"/>
            <a:ext cx="6786111" cy="7710778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Subproblem…"/>
          <p:cNvSpPr txBox="1"/>
          <p:nvPr/>
        </p:nvSpPr>
        <p:spPr>
          <a:xfrm>
            <a:off x="20500459" y="7925317"/>
            <a:ext cx="2410054" cy="108041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Subproblem</a:t>
            </a:r>
          </a:p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(Variables)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54" name="Project Overview: Column Generation Algorithm…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/>
          <a:p>
            <a:pPr algn="l" defTabSz="914400">
              <a:tabLst>
                <a:tab pos="330200" algn="l"/>
                <a:tab pos="660400" algn="l"/>
                <a:tab pos="990600" algn="l"/>
                <a:tab pos="1333500" algn="l"/>
                <a:tab pos="1663700" algn="l"/>
                <a:tab pos="1993900" algn="l"/>
                <a:tab pos="2336800" algn="l"/>
                <a:tab pos="2667000" algn="l"/>
                <a:tab pos="2997200" algn="l"/>
                <a:tab pos="3340100" algn="l"/>
                <a:tab pos="3670300" algn="l"/>
                <a:tab pos="4000500" algn="l"/>
              </a:tabLst>
              <a:defRPr sz="6392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Project Overview: Column Generation Algorithm</a:t>
            </a:r>
          </a:p>
          <a:p>
            <a:pPr algn="l" defTabSz="914400">
              <a:tabLst>
                <a:tab pos="330200" algn="l"/>
                <a:tab pos="660400" algn="l"/>
                <a:tab pos="990600" algn="l"/>
                <a:tab pos="1333500" algn="l"/>
                <a:tab pos="1663700" algn="l"/>
                <a:tab pos="1993900" algn="l"/>
                <a:tab pos="2336800" algn="l"/>
                <a:tab pos="2667000" algn="l"/>
                <a:tab pos="2997200" algn="l"/>
                <a:tab pos="3340100" algn="l"/>
                <a:tab pos="3670300" algn="l"/>
                <a:tab pos="4000500" algn="l"/>
              </a:tabLst>
              <a:defRPr sz="6392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For Large-Scale LP &amp; IP Problems</a:t>
            </a:r>
          </a:p>
        </p:txBody>
      </p:sp>
      <p:sp>
        <p:nvSpPr>
          <p:cNvPr id="155" name="- Column Generation:…"/>
          <p:cNvSpPr txBox="1"/>
          <p:nvPr/>
        </p:nvSpPr>
        <p:spPr>
          <a:xfrm>
            <a:off x="13435455" y="5860795"/>
            <a:ext cx="9063836" cy="1994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165100" indent="-165100" defTabSz="12700">
              <a:spcBef>
                <a:spcPts val="0"/>
              </a:spcBef>
              <a:tabLst>
                <a:tab pos="63500" algn="r"/>
                <a:tab pos="165100" algn="l"/>
              </a:tabLst>
              <a:defRPr sz="42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- Column Generation:</a:t>
            </a:r>
          </a:p>
          <a:p>
            <a:pPr marL="419100" lvl="1" indent="38100" defTabSz="12700">
              <a:spcBef>
                <a:spcPts val="0"/>
              </a:spcBef>
              <a:tabLst>
                <a:tab pos="317500" algn="r"/>
                <a:tab pos="419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- Identifies these useful variables</a:t>
            </a:r>
          </a:p>
          <a:p>
            <a:pPr marL="419100" lvl="1" indent="38100" defTabSz="12700">
              <a:spcBef>
                <a:spcPts val="0"/>
              </a:spcBef>
              <a:tabLst>
                <a:tab pos="317500" algn="r"/>
                <a:tab pos="419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- Avoids generating useless ones</a:t>
            </a:r>
          </a:p>
        </p:txBody>
      </p:sp>
      <p:sp>
        <p:nvSpPr>
          <p:cNvPr id="156" name="- In optimal solutions:…"/>
          <p:cNvSpPr txBox="1"/>
          <p:nvPr/>
        </p:nvSpPr>
        <p:spPr>
          <a:xfrm>
            <a:off x="2279630" y="5860795"/>
            <a:ext cx="9329999" cy="1994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65100" indent="-165100" defTabSz="12700">
              <a:spcBef>
                <a:spcPts val="0"/>
              </a:spcBef>
              <a:tabLst>
                <a:tab pos="63500" algn="r"/>
                <a:tab pos="165100" algn="l"/>
              </a:tabLst>
              <a:defRPr sz="42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- In optimal solutions:</a:t>
            </a:r>
          </a:p>
          <a:p>
            <a:pPr marL="419100" lvl="1" indent="38100" defTabSz="12700">
              <a:spcBef>
                <a:spcPts val="0"/>
              </a:spcBef>
              <a:tabLst>
                <a:tab pos="317500" algn="r"/>
                <a:tab pos="419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- 	Most variables are zero (solution sparsity)</a:t>
            </a:r>
          </a:p>
          <a:p>
            <a:pPr marL="165100" lvl="1" indent="292100" defTabSz="12700">
              <a:spcBef>
                <a:spcPts val="0"/>
              </a:spcBef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- Only a few variables affect optimality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59" name="Column Generation Algorithm Steps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 Column Generation Algorithm Steps</a:t>
            </a:r>
          </a:p>
        </p:txBody>
      </p:sp>
      <p:sp>
        <p:nvSpPr>
          <p:cNvPr id="160" name="1.  Initialize RMP with feasible columns…"/>
          <p:cNvSpPr txBox="1">
            <a:spLocks noGrp="1"/>
          </p:cNvSpPr>
          <p:nvPr>
            <p:ph type="body" sz="half" idx="4294967295"/>
          </p:nvPr>
        </p:nvSpPr>
        <p:spPr>
          <a:xfrm>
            <a:off x="2581100" y="3162497"/>
            <a:ext cx="10975031" cy="6369281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 sz="3000" b="0"/>
          </a:p>
          <a:p>
            <a:pPr marL="279400" indent="-2794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1.	 Initialize </a:t>
            </a:r>
            <a:r>
              <a:rPr b="1"/>
              <a:t>RMP</a:t>
            </a:r>
            <a:r>
              <a:t> with feasible columns</a:t>
            </a:r>
          </a:p>
          <a:p>
            <a:pPr marL="279400" indent="-2794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2.	 Solve </a:t>
            </a:r>
            <a:r>
              <a:rPr b="1"/>
              <a:t>RMP</a:t>
            </a:r>
          </a:p>
          <a:p>
            <a:pPr marL="279400" indent="-2794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3.	 Obtain </a:t>
            </a:r>
            <a:r>
              <a:rPr b="1"/>
              <a:t>Dual</a:t>
            </a:r>
            <a:r>
              <a:t> </a:t>
            </a:r>
            <a:r>
              <a:rPr b="1"/>
              <a:t>Prices</a:t>
            </a:r>
          </a:p>
          <a:p>
            <a:pPr marL="279400" indent="-2794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4.	 Solve </a:t>
            </a:r>
            <a:r>
              <a:rPr b="1"/>
              <a:t>Pricing Problem(subproblem)</a:t>
            </a:r>
          </a:p>
          <a:p>
            <a:pPr marL="279400" indent="-2794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5.	 Add negative </a:t>
            </a:r>
            <a:r>
              <a:rPr b="1"/>
              <a:t>Reduced Cost</a:t>
            </a:r>
            <a:r>
              <a:t> columns</a:t>
            </a:r>
          </a:p>
          <a:p>
            <a:pPr marL="279400" indent="-2794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6.	 Repeat until no improving column exists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63" name="Crew Scheduling Problem (Overview)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Crew Scheduling Problem (Overview)</a:t>
            </a:r>
          </a:p>
        </p:txBody>
      </p:sp>
      <p:sp>
        <p:nvSpPr>
          <p:cNvPr id="164" name="Objective:…"/>
          <p:cNvSpPr txBox="1">
            <a:spLocks noGrp="1"/>
          </p:cNvSpPr>
          <p:nvPr>
            <p:ph type="body" sz="half" idx="4294967295"/>
          </p:nvPr>
        </p:nvSpPr>
        <p:spPr>
          <a:xfrm>
            <a:off x="1980700" y="2620200"/>
            <a:ext cx="10975030" cy="6190205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 sz="3000" b="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42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Objective:</a:t>
            </a:r>
          </a:p>
          <a:p>
            <a:pPr marL="419100" lvl="1" indent="38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317500" algn="r"/>
                <a:tab pos="419100" algn="l"/>
              </a:tabLst>
              <a:defRPr sz="30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 - </a:t>
            </a:r>
            <a:r>
              <a:rPr sz="3400"/>
              <a:t>Assign crews to cover all flights at minimum cost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 Each crew follows labor and operational rules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 	Each possible crew schedule is called a </a:t>
            </a:r>
            <a:r>
              <a:rPr b="1"/>
              <a:t>pairing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67" name="Why Crew Scheduling Is Hard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Why Crew Scheduling Is Hard</a:t>
            </a:r>
          </a:p>
        </p:txBody>
      </p:sp>
      <p:sp>
        <p:nvSpPr>
          <p:cNvPr id="168" name="-  A single pairing = one variable…"/>
          <p:cNvSpPr txBox="1">
            <a:spLocks noGrp="1"/>
          </p:cNvSpPr>
          <p:nvPr>
            <p:ph type="body" sz="half" idx="4294967295"/>
          </p:nvPr>
        </p:nvSpPr>
        <p:spPr>
          <a:xfrm>
            <a:off x="2813513" y="3775597"/>
            <a:ext cx="10975031" cy="6643835"/>
          </a:xfrm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- 	A single pairing = one variable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- Number of feasible pairings is enormous</a:t>
            </a:r>
          </a:p>
        </p:txBody>
      </p:sp>
      <p:sp>
        <p:nvSpPr>
          <p:cNvPr id="169" name="Constraints:…"/>
          <p:cNvSpPr txBox="1"/>
          <p:nvPr/>
        </p:nvSpPr>
        <p:spPr>
          <a:xfrm>
            <a:off x="14348119" y="2620200"/>
            <a:ext cx="10975030" cy="6190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 defTabSz="12700">
              <a:lnSpc>
                <a:spcPct val="135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 sz="3000" b="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42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Constraints:</a:t>
            </a:r>
          </a:p>
          <a:p>
            <a:pPr marL="1031875" lvl="1" indent="-396875" defTabSz="12700">
              <a:lnSpc>
                <a:spcPct val="135000"/>
              </a:lnSpc>
              <a:spcBef>
                <a:spcPts val="1200"/>
              </a:spcBef>
              <a:buSzPct val="125000"/>
              <a:buChar char="-"/>
              <a:tabLst>
                <a:tab pos="317500" algn="r"/>
                <a:tab pos="419100" algn="l"/>
              </a:tabLst>
              <a:defRPr sz="30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Every flight must cover</a:t>
            </a:r>
          </a:p>
          <a:p>
            <a:pPr marL="1031875" lvl="1" indent="-396875" defTabSz="12700">
              <a:lnSpc>
                <a:spcPct val="135000"/>
              </a:lnSpc>
              <a:spcBef>
                <a:spcPts val="1200"/>
              </a:spcBef>
              <a:buSzPct val="125000"/>
              <a:buChar char="-"/>
              <a:tabLst>
                <a:tab pos="317500" algn="r"/>
                <a:tab pos="419100" algn="l"/>
              </a:tabLst>
              <a:defRPr sz="30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Start from base</a:t>
            </a:r>
            <a:r>
              <a:rPr b="1"/>
              <a:t> </a:t>
            </a:r>
          </a:p>
          <a:p>
            <a:pPr marL="1031875" lvl="1" indent="-396875" defTabSz="12700">
              <a:lnSpc>
                <a:spcPct val="135000"/>
              </a:lnSpc>
              <a:spcBef>
                <a:spcPts val="1200"/>
              </a:spcBef>
              <a:buSzPct val="125000"/>
              <a:buChar char="-"/>
              <a:tabLst>
                <a:tab pos="317500" algn="r"/>
                <a:tab pos="419100" algn="l"/>
              </a:tabLst>
              <a:defRPr sz="30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Duty hour limits</a:t>
            </a:r>
          </a:p>
          <a:p>
            <a:pPr marL="1031875" lvl="1" indent="-396875" defTabSz="12700">
              <a:lnSpc>
                <a:spcPct val="135000"/>
              </a:lnSpc>
              <a:spcBef>
                <a:spcPts val="1200"/>
              </a:spcBef>
              <a:buSzPct val="125000"/>
              <a:buChar char="-"/>
              <a:tabLst>
                <a:tab pos="317500" algn="r"/>
                <a:tab pos="419100" algn="l"/>
              </a:tabLst>
              <a:defRPr sz="30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Flight time limits</a:t>
            </a:r>
          </a:p>
          <a:p>
            <a:pPr marL="1031875" lvl="1" indent="-396875" defTabSz="12700">
              <a:lnSpc>
                <a:spcPct val="135000"/>
              </a:lnSpc>
              <a:spcBef>
                <a:spcPts val="1200"/>
              </a:spcBef>
              <a:buSzPct val="125000"/>
              <a:buChar char="-"/>
              <a:tabLst>
                <a:tab pos="317500" algn="r"/>
                <a:tab pos="419100" algn="l"/>
              </a:tabLst>
              <a:defRPr sz="30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Turn around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72" name="Standard Linear Programming Form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Standard Linear Programming Form</a:t>
            </a:r>
          </a:p>
        </p:txBody>
      </p:sp>
      <p:sp>
        <p:nvSpPr>
          <p:cNvPr id="173" name="Subject to:…"/>
          <p:cNvSpPr txBox="1">
            <a:spLocks noGrp="1"/>
          </p:cNvSpPr>
          <p:nvPr>
            <p:ph type="body" sz="quarter" idx="4294967295"/>
          </p:nvPr>
        </p:nvSpPr>
        <p:spPr>
          <a:xfrm>
            <a:off x="2813513" y="4678503"/>
            <a:ext cx="10975031" cy="5261900"/>
          </a:xfrm>
          <a:prstGeom prst="rect">
            <a:avLst/>
          </a:prstGeom>
        </p:spPr>
        <p:txBody>
          <a:bodyPr/>
          <a:lstStyle/>
          <a:p>
            <a:pPr marL="0" indent="0" defTabSz="12700"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9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/>
          </a:p>
          <a:p>
            <a:pPr marL="0" indent="0" defTabSz="12700"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Subject to:</a:t>
            </a:r>
          </a:p>
          <a:p>
            <a:pPr marL="0" indent="0" defTabSz="12700"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5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/>
          </a:p>
          <a:p>
            <a:pPr marL="0" indent="0" defTabSz="12700"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5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/>
          </a:p>
          <a:p>
            <a:pPr marL="0" indent="0" defTabSz="12700"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5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 sz="290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29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•	 i : very large variable set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Explicit enumeration is impossible</a:t>
            </a:r>
          </a:p>
        </p:txBody>
      </p:sp>
      <p:pic>
        <p:nvPicPr>
          <p:cNvPr id="174" name="Screenshot 2026-01-08 at 7.37.51 AM.png" descr="Screenshot 2026-01-08 at 7.37.51 AM.png"/>
          <p:cNvPicPr>
            <a:picLocks noChangeAspect="1"/>
          </p:cNvPicPr>
          <p:nvPr/>
        </p:nvPicPr>
        <p:blipFill>
          <a:blip r:embed="rId3"/>
          <a:srcRect l="23155" t="25000" r="25702" b="6573"/>
          <a:stretch>
            <a:fillRect/>
          </a:stretch>
        </p:blipFill>
        <p:spPr>
          <a:xfrm>
            <a:off x="6829158" y="3969772"/>
            <a:ext cx="2943741" cy="12132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2" h="21600" extrusionOk="0">
                <a:moveTo>
                  <a:pt x="10655" y="0"/>
                </a:moveTo>
                <a:cubicBezTo>
                  <a:pt x="9221" y="0"/>
                  <a:pt x="8148" y="172"/>
                  <a:pt x="8087" y="410"/>
                </a:cubicBezTo>
                <a:cubicBezTo>
                  <a:pt x="8030" y="635"/>
                  <a:pt x="8413" y="2239"/>
                  <a:pt x="8940" y="3971"/>
                </a:cubicBezTo>
                <a:cubicBezTo>
                  <a:pt x="9467" y="5703"/>
                  <a:pt x="9934" y="7340"/>
                  <a:pt x="9976" y="7610"/>
                </a:cubicBezTo>
                <a:cubicBezTo>
                  <a:pt x="10019" y="7880"/>
                  <a:pt x="9630" y="9276"/>
                  <a:pt x="9112" y="10719"/>
                </a:cubicBezTo>
                <a:cubicBezTo>
                  <a:pt x="8162" y="13365"/>
                  <a:pt x="8073" y="13750"/>
                  <a:pt x="8288" y="14273"/>
                </a:cubicBezTo>
                <a:cubicBezTo>
                  <a:pt x="8353" y="14431"/>
                  <a:pt x="9490" y="14506"/>
                  <a:pt x="10812" y="14442"/>
                </a:cubicBezTo>
                <a:lnTo>
                  <a:pt x="13214" y="14329"/>
                </a:lnTo>
                <a:lnTo>
                  <a:pt x="13461" y="12584"/>
                </a:lnTo>
                <a:cubicBezTo>
                  <a:pt x="13765" y="10445"/>
                  <a:pt x="13608" y="9920"/>
                  <a:pt x="13045" y="11206"/>
                </a:cubicBezTo>
                <a:cubicBezTo>
                  <a:pt x="12470" y="12519"/>
                  <a:pt x="9724" y="13522"/>
                  <a:pt x="9467" y="12513"/>
                </a:cubicBezTo>
                <a:cubicBezTo>
                  <a:pt x="9417" y="12315"/>
                  <a:pt x="9759" y="11093"/>
                  <a:pt x="10227" y="9793"/>
                </a:cubicBezTo>
                <a:cubicBezTo>
                  <a:pt x="10695" y="8494"/>
                  <a:pt x="11077" y="7343"/>
                  <a:pt x="11077" y="7242"/>
                </a:cubicBezTo>
                <a:cubicBezTo>
                  <a:pt x="11077" y="7142"/>
                  <a:pt x="10731" y="5924"/>
                  <a:pt x="10308" y="4529"/>
                </a:cubicBezTo>
                <a:cubicBezTo>
                  <a:pt x="9886" y="3134"/>
                  <a:pt x="9588" y="1801"/>
                  <a:pt x="9648" y="1569"/>
                </a:cubicBezTo>
                <a:cubicBezTo>
                  <a:pt x="9713" y="1313"/>
                  <a:pt x="10287" y="1221"/>
                  <a:pt x="11103" y="1335"/>
                </a:cubicBezTo>
                <a:cubicBezTo>
                  <a:pt x="12295" y="1503"/>
                  <a:pt x="12512" y="1663"/>
                  <a:pt x="12957" y="2699"/>
                </a:cubicBezTo>
                <a:cubicBezTo>
                  <a:pt x="13374" y="3668"/>
                  <a:pt x="13478" y="3761"/>
                  <a:pt x="13563" y="3222"/>
                </a:cubicBezTo>
                <a:cubicBezTo>
                  <a:pt x="13619" y="2864"/>
                  <a:pt x="13541" y="1992"/>
                  <a:pt x="13391" y="1286"/>
                </a:cubicBezTo>
                <a:lnTo>
                  <a:pt x="13120" y="0"/>
                </a:lnTo>
                <a:lnTo>
                  <a:pt x="10655" y="0"/>
                </a:lnTo>
                <a:close/>
                <a:moveTo>
                  <a:pt x="16788" y="2593"/>
                </a:moveTo>
                <a:cubicBezTo>
                  <a:pt x="15833" y="2492"/>
                  <a:pt x="15099" y="3343"/>
                  <a:pt x="14753" y="4967"/>
                </a:cubicBezTo>
                <a:cubicBezTo>
                  <a:pt x="14014" y="8444"/>
                  <a:pt x="15138" y="11504"/>
                  <a:pt x="16459" y="9609"/>
                </a:cubicBezTo>
                <a:cubicBezTo>
                  <a:pt x="17094" y="8700"/>
                  <a:pt x="17403" y="9050"/>
                  <a:pt x="17403" y="10676"/>
                </a:cubicBezTo>
                <a:cubicBezTo>
                  <a:pt x="17403" y="11955"/>
                  <a:pt x="18042" y="11987"/>
                  <a:pt x="18235" y="10719"/>
                </a:cubicBezTo>
                <a:cubicBezTo>
                  <a:pt x="18357" y="9915"/>
                  <a:pt x="18482" y="9819"/>
                  <a:pt x="19266" y="9920"/>
                </a:cubicBezTo>
                <a:cubicBezTo>
                  <a:pt x="19783" y="9987"/>
                  <a:pt x="20261" y="9819"/>
                  <a:pt x="20407" y="9525"/>
                </a:cubicBezTo>
                <a:cubicBezTo>
                  <a:pt x="20710" y="8912"/>
                  <a:pt x="20895" y="9276"/>
                  <a:pt x="20902" y="10507"/>
                </a:cubicBezTo>
                <a:cubicBezTo>
                  <a:pt x="20905" y="11138"/>
                  <a:pt x="21011" y="11425"/>
                  <a:pt x="21248" y="11425"/>
                </a:cubicBezTo>
                <a:cubicBezTo>
                  <a:pt x="21550" y="11425"/>
                  <a:pt x="21590" y="11147"/>
                  <a:pt x="21591" y="9037"/>
                </a:cubicBezTo>
                <a:cubicBezTo>
                  <a:pt x="21593" y="7388"/>
                  <a:pt x="21528" y="6649"/>
                  <a:pt x="21379" y="6649"/>
                </a:cubicBezTo>
                <a:cubicBezTo>
                  <a:pt x="21260" y="6649"/>
                  <a:pt x="21161" y="6913"/>
                  <a:pt x="21161" y="7242"/>
                </a:cubicBezTo>
                <a:cubicBezTo>
                  <a:pt x="21161" y="8049"/>
                  <a:pt x="20832" y="8501"/>
                  <a:pt x="20619" y="7984"/>
                </a:cubicBezTo>
                <a:cubicBezTo>
                  <a:pt x="20504" y="7704"/>
                  <a:pt x="20508" y="7291"/>
                  <a:pt x="20631" y="6734"/>
                </a:cubicBezTo>
                <a:cubicBezTo>
                  <a:pt x="20877" y="5617"/>
                  <a:pt x="20598" y="5143"/>
                  <a:pt x="19664" y="5080"/>
                </a:cubicBezTo>
                <a:cubicBezTo>
                  <a:pt x="19076" y="5040"/>
                  <a:pt x="18886" y="5214"/>
                  <a:pt x="18675" y="5999"/>
                </a:cubicBezTo>
                <a:cubicBezTo>
                  <a:pt x="18498" y="6652"/>
                  <a:pt x="18302" y="6905"/>
                  <a:pt x="18078" y="6762"/>
                </a:cubicBezTo>
                <a:cubicBezTo>
                  <a:pt x="17852" y="6618"/>
                  <a:pt x="17743" y="6756"/>
                  <a:pt x="17743" y="7193"/>
                </a:cubicBezTo>
                <a:cubicBezTo>
                  <a:pt x="17743" y="8312"/>
                  <a:pt x="17411" y="8396"/>
                  <a:pt x="17210" y="7327"/>
                </a:cubicBezTo>
                <a:cubicBezTo>
                  <a:pt x="17057" y="6508"/>
                  <a:pt x="17073" y="6110"/>
                  <a:pt x="17295" y="5342"/>
                </a:cubicBezTo>
                <a:cubicBezTo>
                  <a:pt x="17447" y="4813"/>
                  <a:pt x="17571" y="3996"/>
                  <a:pt x="17571" y="3526"/>
                </a:cubicBezTo>
                <a:cubicBezTo>
                  <a:pt x="17571" y="2798"/>
                  <a:pt x="17455" y="2664"/>
                  <a:pt x="16788" y="2593"/>
                </a:cubicBezTo>
                <a:close/>
                <a:moveTo>
                  <a:pt x="4568" y="2996"/>
                </a:moveTo>
                <a:cubicBezTo>
                  <a:pt x="4317" y="2920"/>
                  <a:pt x="4038" y="3355"/>
                  <a:pt x="4125" y="3907"/>
                </a:cubicBezTo>
                <a:cubicBezTo>
                  <a:pt x="4175" y="4224"/>
                  <a:pt x="4040" y="4881"/>
                  <a:pt x="3826" y="5370"/>
                </a:cubicBezTo>
                <a:cubicBezTo>
                  <a:pt x="3488" y="6141"/>
                  <a:pt x="3410" y="6175"/>
                  <a:pt x="3229" y="5646"/>
                </a:cubicBezTo>
                <a:cubicBezTo>
                  <a:pt x="3075" y="5194"/>
                  <a:pt x="2665" y="5046"/>
                  <a:pt x="1660" y="5080"/>
                </a:cubicBezTo>
                <a:cubicBezTo>
                  <a:pt x="490" y="5120"/>
                  <a:pt x="23" y="5389"/>
                  <a:pt x="0" y="6253"/>
                </a:cubicBezTo>
                <a:cubicBezTo>
                  <a:pt x="-7" y="6541"/>
                  <a:pt x="35" y="6892"/>
                  <a:pt x="117" y="7327"/>
                </a:cubicBezTo>
                <a:cubicBezTo>
                  <a:pt x="228" y="7918"/>
                  <a:pt x="272" y="8755"/>
                  <a:pt x="216" y="9185"/>
                </a:cubicBezTo>
                <a:cubicBezTo>
                  <a:pt x="139" y="9774"/>
                  <a:pt x="198" y="9970"/>
                  <a:pt x="455" y="9970"/>
                </a:cubicBezTo>
                <a:cubicBezTo>
                  <a:pt x="679" y="9970"/>
                  <a:pt x="815" y="9650"/>
                  <a:pt x="850" y="9037"/>
                </a:cubicBezTo>
                <a:cubicBezTo>
                  <a:pt x="880" y="8523"/>
                  <a:pt x="983" y="8097"/>
                  <a:pt x="1077" y="8097"/>
                </a:cubicBezTo>
                <a:cubicBezTo>
                  <a:pt x="1172" y="8097"/>
                  <a:pt x="1272" y="8523"/>
                  <a:pt x="1302" y="9037"/>
                </a:cubicBezTo>
                <a:cubicBezTo>
                  <a:pt x="1365" y="10122"/>
                  <a:pt x="1762" y="10285"/>
                  <a:pt x="1919" y="9291"/>
                </a:cubicBezTo>
                <a:cubicBezTo>
                  <a:pt x="2018" y="8662"/>
                  <a:pt x="2049" y="8662"/>
                  <a:pt x="2335" y="9291"/>
                </a:cubicBezTo>
                <a:cubicBezTo>
                  <a:pt x="2687" y="10065"/>
                  <a:pt x="3141" y="10175"/>
                  <a:pt x="3304" y="9532"/>
                </a:cubicBezTo>
                <a:cubicBezTo>
                  <a:pt x="3370" y="9275"/>
                  <a:pt x="3496" y="9247"/>
                  <a:pt x="3613" y="9461"/>
                </a:cubicBezTo>
                <a:cubicBezTo>
                  <a:pt x="3891" y="9969"/>
                  <a:pt x="4554" y="9993"/>
                  <a:pt x="4678" y="9503"/>
                </a:cubicBezTo>
                <a:cubicBezTo>
                  <a:pt x="4744" y="9247"/>
                  <a:pt x="4876" y="9287"/>
                  <a:pt x="5036" y="9609"/>
                </a:cubicBezTo>
                <a:cubicBezTo>
                  <a:pt x="5240" y="10019"/>
                  <a:pt x="5365" y="10016"/>
                  <a:pt x="5642" y="9595"/>
                </a:cubicBezTo>
                <a:cubicBezTo>
                  <a:pt x="5892" y="9216"/>
                  <a:pt x="6042" y="9195"/>
                  <a:pt x="6175" y="9518"/>
                </a:cubicBezTo>
                <a:cubicBezTo>
                  <a:pt x="6633" y="10631"/>
                  <a:pt x="7476" y="9408"/>
                  <a:pt x="7223" y="7998"/>
                </a:cubicBezTo>
                <a:cubicBezTo>
                  <a:pt x="7150" y="7596"/>
                  <a:pt x="7109" y="7022"/>
                  <a:pt x="7130" y="6720"/>
                </a:cubicBezTo>
                <a:cubicBezTo>
                  <a:pt x="7201" y="5664"/>
                  <a:pt x="6793" y="5059"/>
                  <a:pt x="6026" y="5087"/>
                </a:cubicBezTo>
                <a:cubicBezTo>
                  <a:pt x="5607" y="5103"/>
                  <a:pt x="5177" y="5371"/>
                  <a:pt x="5071" y="5681"/>
                </a:cubicBezTo>
                <a:cubicBezTo>
                  <a:pt x="4925" y="6111"/>
                  <a:pt x="4823" y="6126"/>
                  <a:pt x="4641" y="5759"/>
                </a:cubicBezTo>
                <a:cubicBezTo>
                  <a:pt x="4439" y="5352"/>
                  <a:pt x="4447" y="5162"/>
                  <a:pt x="4693" y="4501"/>
                </a:cubicBezTo>
                <a:cubicBezTo>
                  <a:pt x="4906" y="3929"/>
                  <a:pt x="4934" y="3595"/>
                  <a:pt x="4795" y="3257"/>
                </a:cubicBezTo>
                <a:cubicBezTo>
                  <a:pt x="4732" y="3105"/>
                  <a:pt x="4651" y="3021"/>
                  <a:pt x="4568" y="2996"/>
                </a:cubicBezTo>
                <a:close/>
                <a:moveTo>
                  <a:pt x="11004" y="16322"/>
                </a:moveTo>
                <a:cubicBezTo>
                  <a:pt x="10936" y="16275"/>
                  <a:pt x="10861" y="16449"/>
                  <a:pt x="10794" y="16901"/>
                </a:cubicBezTo>
                <a:cubicBezTo>
                  <a:pt x="10734" y="17316"/>
                  <a:pt x="10577" y="17954"/>
                  <a:pt x="10448" y="18321"/>
                </a:cubicBezTo>
                <a:cubicBezTo>
                  <a:pt x="10248" y="18890"/>
                  <a:pt x="10251" y="19064"/>
                  <a:pt x="10471" y="19509"/>
                </a:cubicBezTo>
                <a:cubicBezTo>
                  <a:pt x="10614" y="19796"/>
                  <a:pt x="10689" y="20196"/>
                  <a:pt x="10637" y="20399"/>
                </a:cubicBezTo>
                <a:cubicBezTo>
                  <a:pt x="10586" y="20601"/>
                  <a:pt x="10591" y="20955"/>
                  <a:pt x="10649" y="21183"/>
                </a:cubicBezTo>
                <a:cubicBezTo>
                  <a:pt x="10707" y="21412"/>
                  <a:pt x="10826" y="21600"/>
                  <a:pt x="10911" y="21600"/>
                </a:cubicBezTo>
                <a:cubicBezTo>
                  <a:pt x="11137" y="21600"/>
                  <a:pt x="11446" y="20024"/>
                  <a:pt x="11272" y="19763"/>
                </a:cubicBezTo>
                <a:cubicBezTo>
                  <a:pt x="11191" y="19641"/>
                  <a:pt x="11147" y="18885"/>
                  <a:pt x="11173" y="18081"/>
                </a:cubicBezTo>
                <a:cubicBezTo>
                  <a:pt x="11205" y="17084"/>
                  <a:pt x="11117" y="16400"/>
                  <a:pt x="11004" y="1632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75" name="Screenshot 2026-01-08 at 7.46.11 AM.png" descr="Screenshot 2026-01-08 at 7.46.11 AM.png"/>
          <p:cNvPicPr>
            <a:picLocks noChangeAspect="1"/>
          </p:cNvPicPr>
          <p:nvPr/>
        </p:nvPicPr>
        <p:blipFill>
          <a:blip r:embed="rId4"/>
          <a:srcRect l="27304" t="21428" r="16061" b="17989"/>
          <a:stretch>
            <a:fillRect/>
          </a:stretch>
        </p:blipFill>
        <p:spPr>
          <a:xfrm>
            <a:off x="6829192" y="6687001"/>
            <a:ext cx="2943673" cy="12449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3" h="21503" extrusionOk="0">
                <a:moveTo>
                  <a:pt x="2264" y="0"/>
                </a:moveTo>
                <a:cubicBezTo>
                  <a:pt x="1111" y="0"/>
                  <a:pt x="106" y="233"/>
                  <a:pt x="32" y="514"/>
                </a:cubicBezTo>
                <a:cubicBezTo>
                  <a:pt x="-42" y="795"/>
                  <a:pt x="333" y="2491"/>
                  <a:pt x="864" y="4284"/>
                </a:cubicBezTo>
                <a:lnTo>
                  <a:pt x="1829" y="7541"/>
                </a:lnTo>
                <a:lnTo>
                  <a:pt x="983" y="9816"/>
                </a:lnTo>
                <a:cubicBezTo>
                  <a:pt x="517" y="11066"/>
                  <a:pt x="133" y="12359"/>
                  <a:pt x="133" y="12696"/>
                </a:cubicBezTo>
                <a:cubicBezTo>
                  <a:pt x="133" y="13034"/>
                  <a:pt x="1031" y="13313"/>
                  <a:pt x="2139" y="13313"/>
                </a:cubicBezTo>
                <a:cubicBezTo>
                  <a:pt x="4065" y="13313"/>
                  <a:pt x="4822" y="13952"/>
                  <a:pt x="4117" y="14978"/>
                </a:cubicBezTo>
                <a:cubicBezTo>
                  <a:pt x="3933" y="15246"/>
                  <a:pt x="2934" y="15763"/>
                  <a:pt x="1893" y="16130"/>
                </a:cubicBezTo>
                <a:lnTo>
                  <a:pt x="0" y="16795"/>
                </a:lnTo>
                <a:lnTo>
                  <a:pt x="43" y="19016"/>
                </a:lnTo>
                <a:cubicBezTo>
                  <a:pt x="67" y="20236"/>
                  <a:pt x="97" y="21340"/>
                  <a:pt x="110" y="21470"/>
                </a:cubicBezTo>
                <a:cubicBezTo>
                  <a:pt x="123" y="21600"/>
                  <a:pt x="325" y="21331"/>
                  <a:pt x="559" y="20874"/>
                </a:cubicBezTo>
                <a:cubicBezTo>
                  <a:pt x="811" y="20383"/>
                  <a:pt x="1718" y="20026"/>
                  <a:pt x="2777" y="20003"/>
                </a:cubicBezTo>
                <a:cubicBezTo>
                  <a:pt x="4477" y="19966"/>
                  <a:pt x="4589" y="19874"/>
                  <a:pt x="4940" y="18152"/>
                </a:cubicBezTo>
                <a:cubicBezTo>
                  <a:pt x="5206" y="16848"/>
                  <a:pt x="5233" y="15946"/>
                  <a:pt x="5039" y="14944"/>
                </a:cubicBezTo>
                <a:cubicBezTo>
                  <a:pt x="4862" y="14031"/>
                  <a:pt x="4860" y="13167"/>
                  <a:pt x="5033" y="12442"/>
                </a:cubicBezTo>
                <a:cubicBezTo>
                  <a:pt x="5178" y="11833"/>
                  <a:pt x="5224" y="10880"/>
                  <a:pt x="5134" y="10331"/>
                </a:cubicBezTo>
                <a:cubicBezTo>
                  <a:pt x="4987" y="9428"/>
                  <a:pt x="4925" y="9435"/>
                  <a:pt x="4485" y="10372"/>
                </a:cubicBezTo>
                <a:cubicBezTo>
                  <a:pt x="3971" y="11465"/>
                  <a:pt x="2155" y="11804"/>
                  <a:pt x="1905" y="10852"/>
                </a:cubicBezTo>
                <a:cubicBezTo>
                  <a:pt x="1824" y="10544"/>
                  <a:pt x="1999" y="9573"/>
                  <a:pt x="2293" y="8692"/>
                </a:cubicBezTo>
                <a:cubicBezTo>
                  <a:pt x="2587" y="7812"/>
                  <a:pt x="2827" y="6895"/>
                  <a:pt x="2827" y="6656"/>
                </a:cubicBezTo>
                <a:cubicBezTo>
                  <a:pt x="2827" y="6418"/>
                  <a:pt x="2587" y="5501"/>
                  <a:pt x="2293" y="4620"/>
                </a:cubicBezTo>
                <a:cubicBezTo>
                  <a:pt x="1999" y="3740"/>
                  <a:pt x="1824" y="2769"/>
                  <a:pt x="1905" y="2461"/>
                </a:cubicBezTo>
                <a:cubicBezTo>
                  <a:pt x="2154" y="1512"/>
                  <a:pt x="4082" y="1828"/>
                  <a:pt x="4453" y="2879"/>
                </a:cubicBezTo>
                <a:cubicBezTo>
                  <a:pt x="4687" y="3543"/>
                  <a:pt x="4884" y="3647"/>
                  <a:pt x="5070" y="3208"/>
                </a:cubicBezTo>
                <a:cubicBezTo>
                  <a:pt x="5257" y="2770"/>
                  <a:pt x="5188" y="2153"/>
                  <a:pt x="4853" y="1282"/>
                </a:cubicBezTo>
                <a:cubicBezTo>
                  <a:pt x="4438" y="204"/>
                  <a:pt x="4027" y="0"/>
                  <a:pt x="2264" y="0"/>
                </a:cubicBezTo>
                <a:close/>
                <a:moveTo>
                  <a:pt x="19798" y="2639"/>
                </a:moveTo>
                <a:cubicBezTo>
                  <a:pt x="19745" y="2617"/>
                  <a:pt x="19686" y="2617"/>
                  <a:pt x="19624" y="2646"/>
                </a:cubicBezTo>
                <a:cubicBezTo>
                  <a:pt x="19314" y="2791"/>
                  <a:pt x="19154" y="3731"/>
                  <a:pt x="19076" y="5875"/>
                </a:cubicBezTo>
                <a:cubicBezTo>
                  <a:pt x="18986" y="8358"/>
                  <a:pt x="19053" y="8960"/>
                  <a:pt x="19447" y="9248"/>
                </a:cubicBezTo>
                <a:cubicBezTo>
                  <a:pt x="19711" y="9440"/>
                  <a:pt x="20109" y="9852"/>
                  <a:pt x="20331" y="10159"/>
                </a:cubicBezTo>
                <a:cubicBezTo>
                  <a:pt x="20824" y="10841"/>
                  <a:pt x="21558" y="10608"/>
                  <a:pt x="21500" y="9789"/>
                </a:cubicBezTo>
                <a:cubicBezTo>
                  <a:pt x="21476" y="9461"/>
                  <a:pt x="21417" y="8622"/>
                  <a:pt x="21366" y="7924"/>
                </a:cubicBezTo>
                <a:cubicBezTo>
                  <a:pt x="21316" y="7227"/>
                  <a:pt x="21001" y="6133"/>
                  <a:pt x="20668" y="5498"/>
                </a:cubicBezTo>
                <a:cubicBezTo>
                  <a:pt x="20334" y="4862"/>
                  <a:pt x="20062" y="3916"/>
                  <a:pt x="20062" y="3393"/>
                </a:cubicBezTo>
                <a:cubicBezTo>
                  <a:pt x="20062" y="2989"/>
                  <a:pt x="19956" y="2706"/>
                  <a:pt x="19798" y="2639"/>
                </a:cubicBezTo>
                <a:close/>
                <a:moveTo>
                  <a:pt x="15446" y="3373"/>
                </a:moveTo>
                <a:cubicBezTo>
                  <a:pt x="15366" y="3369"/>
                  <a:pt x="15307" y="3404"/>
                  <a:pt x="15278" y="3476"/>
                </a:cubicBezTo>
                <a:cubicBezTo>
                  <a:pt x="15169" y="3752"/>
                  <a:pt x="15213" y="4090"/>
                  <a:pt x="15377" y="4230"/>
                </a:cubicBezTo>
                <a:cubicBezTo>
                  <a:pt x="15541" y="4369"/>
                  <a:pt x="15904" y="4874"/>
                  <a:pt x="16183" y="5354"/>
                </a:cubicBezTo>
                <a:cubicBezTo>
                  <a:pt x="16666" y="6186"/>
                  <a:pt x="16655" y="6265"/>
                  <a:pt x="15951" y="7020"/>
                </a:cubicBezTo>
                <a:cubicBezTo>
                  <a:pt x="15453" y="7554"/>
                  <a:pt x="15214" y="8294"/>
                  <a:pt x="15214" y="9296"/>
                </a:cubicBezTo>
                <a:cubicBezTo>
                  <a:pt x="15214" y="10652"/>
                  <a:pt x="15328" y="10776"/>
                  <a:pt x="16560" y="10776"/>
                </a:cubicBezTo>
                <a:cubicBezTo>
                  <a:pt x="17300" y="10776"/>
                  <a:pt x="17908" y="10487"/>
                  <a:pt x="17908" y="10139"/>
                </a:cubicBezTo>
                <a:cubicBezTo>
                  <a:pt x="17908" y="9790"/>
                  <a:pt x="17611" y="9508"/>
                  <a:pt x="17250" y="9508"/>
                </a:cubicBezTo>
                <a:cubicBezTo>
                  <a:pt x="16311" y="9508"/>
                  <a:pt x="16187" y="8546"/>
                  <a:pt x="16968" y="7342"/>
                </a:cubicBezTo>
                <a:cubicBezTo>
                  <a:pt x="17337" y="6773"/>
                  <a:pt x="17638" y="6073"/>
                  <a:pt x="17638" y="5786"/>
                </a:cubicBezTo>
                <a:cubicBezTo>
                  <a:pt x="17638" y="5089"/>
                  <a:pt x="16007" y="3399"/>
                  <a:pt x="15446" y="3373"/>
                </a:cubicBezTo>
                <a:close/>
                <a:moveTo>
                  <a:pt x="11591" y="4613"/>
                </a:moveTo>
                <a:cubicBezTo>
                  <a:pt x="11178" y="4655"/>
                  <a:pt x="10721" y="5237"/>
                  <a:pt x="10367" y="6341"/>
                </a:cubicBezTo>
                <a:lnTo>
                  <a:pt x="9860" y="7924"/>
                </a:lnTo>
                <a:lnTo>
                  <a:pt x="8460" y="6231"/>
                </a:lnTo>
                <a:cubicBezTo>
                  <a:pt x="6985" y="4454"/>
                  <a:pt x="6481" y="4486"/>
                  <a:pt x="6053" y="6368"/>
                </a:cubicBezTo>
                <a:cubicBezTo>
                  <a:pt x="5660" y="8099"/>
                  <a:pt x="6018" y="9508"/>
                  <a:pt x="6853" y="9508"/>
                </a:cubicBezTo>
                <a:cubicBezTo>
                  <a:pt x="7259" y="9508"/>
                  <a:pt x="7812" y="10079"/>
                  <a:pt x="8080" y="10776"/>
                </a:cubicBezTo>
                <a:cubicBezTo>
                  <a:pt x="8703" y="12397"/>
                  <a:pt x="9345" y="12383"/>
                  <a:pt x="9976" y="10742"/>
                </a:cubicBezTo>
                <a:cubicBezTo>
                  <a:pt x="10628" y="9046"/>
                  <a:pt x="12431" y="9195"/>
                  <a:pt x="12307" y="10934"/>
                </a:cubicBezTo>
                <a:cubicBezTo>
                  <a:pt x="12187" y="12611"/>
                  <a:pt x="12942" y="12279"/>
                  <a:pt x="13579" y="10372"/>
                </a:cubicBezTo>
                <a:cubicBezTo>
                  <a:pt x="13993" y="9133"/>
                  <a:pt x="14064" y="8479"/>
                  <a:pt x="13849" y="7870"/>
                </a:cubicBezTo>
                <a:cubicBezTo>
                  <a:pt x="13689" y="7417"/>
                  <a:pt x="13389" y="7201"/>
                  <a:pt x="13179" y="7390"/>
                </a:cubicBezTo>
                <a:cubicBezTo>
                  <a:pt x="12942" y="7604"/>
                  <a:pt x="12701" y="7129"/>
                  <a:pt x="12539" y="6122"/>
                </a:cubicBezTo>
                <a:cubicBezTo>
                  <a:pt x="12369" y="5071"/>
                  <a:pt x="12003" y="4572"/>
                  <a:pt x="11591" y="4613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76" name="code.png" descr="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1113" y="5688303"/>
            <a:ext cx="12343722" cy="3772497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Adding constraints"/>
          <p:cNvSpPr txBox="1"/>
          <p:nvPr/>
        </p:nvSpPr>
        <p:spPr>
          <a:xfrm>
            <a:off x="14827693" y="9503511"/>
            <a:ext cx="3970562" cy="635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Adding constraints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80" name="Mathematical Model (Master Problem)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Mathematical Model (Master Problem)</a:t>
            </a:r>
          </a:p>
        </p:txBody>
      </p:sp>
      <p:sp>
        <p:nvSpPr>
          <p:cNvPr id="181" name="- Decision variable…"/>
          <p:cNvSpPr txBox="1">
            <a:spLocks noGrp="1"/>
          </p:cNvSpPr>
          <p:nvPr>
            <p:ph type="body" sz="quarter" idx="4294967295"/>
          </p:nvPr>
        </p:nvSpPr>
        <p:spPr>
          <a:xfrm>
            <a:off x="4722069" y="3762897"/>
            <a:ext cx="9066474" cy="6643835"/>
          </a:xfrm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- Decision variable 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- Objective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- Constraints </a:t>
            </a:r>
          </a:p>
        </p:txBody>
      </p:sp>
      <p:pic>
        <p:nvPicPr>
          <p:cNvPr id="182" name="Screenshot 2026-01-08 at 8.03.39 AM.png" descr="Screenshot 2026-01-08 at 8.03.39 AM.png"/>
          <p:cNvPicPr>
            <a:picLocks noChangeAspect="1"/>
          </p:cNvPicPr>
          <p:nvPr/>
        </p:nvPicPr>
        <p:blipFill>
          <a:blip r:embed="rId3"/>
          <a:srcRect l="11843" t="7866" r="18474" b="12992"/>
          <a:stretch>
            <a:fillRect/>
          </a:stretch>
        </p:blipFill>
        <p:spPr>
          <a:xfrm>
            <a:off x="10025770" y="4802191"/>
            <a:ext cx="3762773" cy="12726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96" extrusionOk="0">
                <a:moveTo>
                  <a:pt x="6741" y="1"/>
                </a:moveTo>
                <a:cubicBezTo>
                  <a:pt x="6681" y="-9"/>
                  <a:pt x="6601" y="36"/>
                  <a:pt x="6507" y="141"/>
                </a:cubicBezTo>
                <a:cubicBezTo>
                  <a:pt x="6084" y="607"/>
                  <a:pt x="5853" y="2699"/>
                  <a:pt x="5853" y="6031"/>
                </a:cubicBezTo>
                <a:cubicBezTo>
                  <a:pt x="5853" y="7761"/>
                  <a:pt x="5763" y="9404"/>
                  <a:pt x="5650" y="9730"/>
                </a:cubicBezTo>
                <a:cubicBezTo>
                  <a:pt x="5497" y="10171"/>
                  <a:pt x="5493" y="10602"/>
                  <a:pt x="5639" y="11450"/>
                </a:cubicBezTo>
                <a:cubicBezTo>
                  <a:pt x="5746" y="12073"/>
                  <a:pt x="5860" y="14179"/>
                  <a:pt x="5892" y="16132"/>
                </a:cubicBezTo>
                <a:cubicBezTo>
                  <a:pt x="5924" y="18143"/>
                  <a:pt x="6051" y="20038"/>
                  <a:pt x="6183" y="20496"/>
                </a:cubicBezTo>
                <a:cubicBezTo>
                  <a:pt x="6436" y="21373"/>
                  <a:pt x="6892" y="21591"/>
                  <a:pt x="6892" y="20834"/>
                </a:cubicBezTo>
                <a:cubicBezTo>
                  <a:pt x="6892" y="20576"/>
                  <a:pt x="6814" y="20227"/>
                  <a:pt x="6719" y="20057"/>
                </a:cubicBezTo>
                <a:cubicBezTo>
                  <a:pt x="6623" y="19888"/>
                  <a:pt x="6546" y="18252"/>
                  <a:pt x="6545" y="16418"/>
                </a:cubicBezTo>
                <a:cubicBezTo>
                  <a:pt x="6545" y="14584"/>
                  <a:pt x="6439" y="12498"/>
                  <a:pt x="6311" y="11789"/>
                </a:cubicBezTo>
                <a:cubicBezTo>
                  <a:pt x="6114" y="10706"/>
                  <a:pt x="6113" y="10354"/>
                  <a:pt x="6311" y="9578"/>
                </a:cubicBezTo>
                <a:cubicBezTo>
                  <a:pt x="6450" y="9031"/>
                  <a:pt x="6545" y="7372"/>
                  <a:pt x="6545" y="5507"/>
                </a:cubicBezTo>
                <a:cubicBezTo>
                  <a:pt x="6545" y="3774"/>
                  <a:pt x="6640" y="1921"/>
                  <a:pt x="6755" y="1389"/>
                </a:cubicBezTo>
                <a:cubicBezTo>
                  <a:pt x="6936" y="556"/>
                  <a:pt x="6921" y="32"/>
                  <a:pt x="6741" y="1"/>
                </a:cubicBezTo>
                <a:close/>
                <a:moveTo>
                  <a:pt x="11052" y="2459"/>
                </a:moveTo>
                <a:cubicBezTo>
                  <a:pt x="10528" y="2479"/>
                  <a:pt x="10305" y="2765"/>
                  <a:pt x="10095" y="3687"/>
                </a:cubicBezTo>
                <a:cubicBezTo>
                  <a:pt x="9944" y="4348"/>
                  <a:pt x="9871" y="5115"/>
                  <a:pt x="9931" y="5394"/>
                </a:cubicBezTo>
                <a:cubicBezTo>
                  <a:pt x="9991" y="5672"/>
                  <a:pt x="9916" y="6444"/>
                  <a:pt x="9765" y="7107"/>
                </a:cubicBezTo>
                <a:cubicBezTo>
                  <a:pt x="9613" y="7771"/>
                  <a:pt x="9489" y="8544"/>
                  <a:pt x="9489" y="8827"/>
                </a:cubicBezTo>
                <a:cubicBezTo>
                  <a:pt x="9489" y="9111"/>
                  <a:pt x="9647" y="9345"/>
                  <a:pt x="9840" y="9345"/>
                </a:cubicBezTo>
                <a:cubicBezTo>
                  <a:pt x="10091" y="9345"/>
                  <a:pt x="10220" y="8918"/>
                  <a:pt x="10295" y="7838"/>
                </a:cubicBezTo>
                <a:cubicBezTo>
                  <a:pt x="10436" y="5807"/>
                  <a:pt x="10667" y="5521"/>
                  <a:pt x="10876" y="7107"/>
                </a:cubicBezTo>
                <a:cubicBezTo>
                  <a:pt x="11011" y="8126"/>
                  <a:pt x="11127" y="8342"/>
                  <a:pt x="11403" y="8090"/>
                </a:cubicBezTo>
                <a:cubicBezTo>
                  <a:pt x="11610" y="7900"/>
                  <a:pt x="11932" y="8093"/>
                  <a:pt x="12177" y="8555"/>
                </a:cubicBezTo>
                <a:cubicBezTo>
                  <a:pt x="12702" y="9545"/>
                  <a:pt x="13194" y="9562"/>
                  <a:pt x="13471" y="8601"/>
                </a:cubicBezTo>
                <a:cubicBezTo>
                  <a:pt x="13589" y="8193"/>
                  <a:pt x="13749" y="7972"/>
                  <a:pt x="13827" y="8110"/>
                </a:cubicBezTo>
                <a:cubicBezTo>
                  <a:pt x="13905" y="8249"/>
                  <a:pt x="14017" y="8137"/>
                  <a:pt x="14077" y="7858"/>
                </a:cubicBezTo>
                <a:cubicBezTo>
                  <a:pt x="14151" y="7516"/>
                  <a:pt x="14293" y="7514"/>
                  <a:pt x="14512" y="7851"/>
                </a:cubicBezTo>
                <a:cubicBezTo>
                  <a:pt x="14734" y="8192"/>
                  <a:pt x="14873" y="8181"/>
                  <a:pt x="14950" y="7824"/>
                </a:cubicBezTo>
                <a:cubicBezTo>
                  <a:pt x="15027" y="7465"/>
                  <a:pt x="15140" y="7484"/>
                  <a:pt x="15307" y="7884"/>
                </a:cubicBezTo>
                <a:cubicBezTo>
                  <a:pt x="15725" y="8882"/>
                  <a:pt x="16056" y="7604"/>
                  <a:pt x="15982" y="5274"/>
                </a:cubicBezTo>
                <a:cubicBezTo>
                  <a:pt x="15901" y="2742"/>
                  <a:pt x="15810" y="2486"/>
                  <a:pt x="15385" y="3594"/>
                </a:cubicBezTo>
                <a:cubicBezTo>
                  <a:pt x="15027" y="4527"/>
                  <a:pt x="14477" y="4320"/>
                  <a:pt x="14553" y="3282"/>
                </a:cubicBezTo>
                <a:cubicBezTo>
                  <a:pt x="14633" y="2200"/>
                  <a:pt x="14044" y="2258"/>
                  <a:pt x="13945" y="3342"/>
                </a:cubicBezTo>
                <a:cubicBezTo>
                  <a:pt x="13890" y="3944"/>
                  <a:pt x="13709" y="4358"/>
                  <a:pt x="13503" y="4358"/>
                </a:cubicBezTo>
                <a:cubicBezTo>
                  <a:pt x="13312" y="4358"/>
                  <a:pt x="13026" y="4504"/>
                  <a:pt x="12870" y="4677"/>
                </a:cubicBezTo>
                <a:cubicBezTo>
                  <a:pt x="12672" y="4895"/>
                  <a:pt x="12556" y="4659"/>
                  <a:pt x="12487" y="3900"/>
                </a:cubicBezTo>
                <a:cubicBezTo>
                  <a:pt x="12429" y="3256"/>
                  <a:pt x="12293" y="2912"/>
                  <a:pt x="12157" y="3063"/>
                </a:cubicBezTo>
                <a:cubicBezTo>
                  <a:pt x="12029" y="3203"/>
                  <a:pt x="11883" y="3122"/>
                  <a:pt x="11831" y="2877"/>
                </a:cubicBezTo>
                <a:cubicBezTo>
                  <a:pt x="11778" y="2632"/>
                  <a:pt x="11427" y="2444"/>
                  <a:pt x="11052" y="2459"/>
                </a:cubicBezTo>
                <a:close/>
                <a:moveTo>
                  <a:pt x="17725" y="2757"/>
                </a:moveTo>
                <a:cubicBezTo>
                  <a:pt x="17620" y="2837"/>
                  <a:pt x="17471" y="3248"/>
                  <a:pt x="17180" y="4059"/>
                </a:cubicBezTo>
                <a:cubicBezTo>
                  <a:pt x="16585" y="5723"/>
                  <a:pt x="16408" y="7582"/>
                  <a:pt x="16807" y="7990"/>
                </a:cubicBezTo>
                <a:cubicBezTo>
                  <a:pt x="17118" y="8310"/>
                  <a:pt x="18647" y="8073"/>
                  <a:pt x="18782" y="7685"/>
                </a:cubicBezTo>
                <a:cubicBezTo>
                  <a:pt x="18844" y="7505"/>
                  <a:pt x="18993" y="7593"/>
                  <a:pt x="19112" y="7878"/>
                </a:cubicBezTo>
                <a:cubicBezTo>
                  <a:pt x="19263" y="8237"/>
                  <a:pt x="19365" y="8234"/>
                  <a:pt x="19443" y="7871"/>
                </a:cubicBezTo>
                <a:cubicBezTo>
                  <a:pt x="19519" y="7515"/>
                  <a:pt x="19659" y="7510"/>
                  <a:pt x="19880" y="7851"/>
                </a:cubicBezTo>
                <a:cubicBezTo>
                  <a:pt x="20098" y="8187"/>
                  <a:pt x="20241" y="8187"/>
                  <a:pt x="20313" y="7851"/>
                </a:cubicBezTo>
                <a:cubicBezTo>
                  <a:pt x="20385" y="7517"/>
                  <a:pt x="20528" y="7512"/>
                  <a:pt x="20743" y="7844"/>
                </a:cubicBezTo>
                <a:cubicBezTo>
                  <a:pt x="21242" y="8612"/>
                  <a:pt x="21555" y="7975"/>
                  <a:pt x="21579" y="6138"/>
                </a:cubicBezTo>
                <a:lnTo>
                  <a:pt x="21600" y="4471"/>
                </a:lnTo>
                <a:lnTo>
                  <a:pt x="19921" y="4464"/>
                </a:lnTo>
                <a:cubicBezTo>
                  <a:pt x="18421" y="4458"/>
                  <a:pt x="18216" y="4349"/>
                  <a:pt x="18005" y="3435"/>
                </a:cubicBezTo>
                <a:cubicBezTo>
                  <a:pt x="17889" y="2931"/>
                  <a:pt x="17830" y="2678"/>
                  <a:pt x="17725" y="2757"/>
                </a:cubicBezTo>
                <a:close/>
                <a:moveTo>
                  <a:pt x="7682" y="2923"/>
                </a:moveTo>
                <a:cubicBezTo>
                  <a:pt x="7354" y="2817"/>
                  <a:pt x="7206" y="3729"/>
                  <a:pt x="7436" y="4790"/>
                </a:cubicBezTo>
                <a:cubicBezTo>
                  <a:pt x="7615" y="5612"/>
                  <a:pt x="7617" y="5961"/>
                  <a:pt x="7450" y="6443"/>
                </a:cubicBezTo>
                <a:cubicBezTo>
                  <a:pt x="7108" y="7427"/>
                  <a:pt x="7204" y="7851"/>
                  <a:pt x="7764" y="7851"/>
                </a:cubicBezTo>
                <a:cubicBezTo>
                  <a:pt x="8075" y="7851"/>
                  <a:pt x="8331" y="8158"/>
                  <a:pt x="8391" y="8608"/>
                </a:cubicBezTo>
                <a:cubicBezTo>
                  <a:pt x="8529" y="9646"/>
                  <a:pt x="8969" y="8593"/>
                  <a:pt x="8969" y="7227"/>
                </a:cubicBezTo>
                <a:cubicBezTo>
                  <a:pt x="8969" y="6411"/>
                  <a:pt x="8925" y="6342"/>
                  <a:pt x="8719" y="6835"/>
                </a:cubicBezTo>
                <a:cubicBezTo>
                  <a:pt x="8347" y="7723"/>
                  <a:pt x="8104" y="7022"/>
                  <a:pt x="8104" y="5062"/>
                </a:cubicBezTo>
                <a:cubicBezTo>
                  <a:pt x="8104" y="3950"/>
                  <a:pt x="8007" y="3229"/>
                  <a:pt x="7833" y="3036"/>
                </a:cubicBezTo>
                <a:cubicBezTo>
                  <a:pt x="7779" y="2977"/>
                  <a:pt x="7729" y="2939"/>
                  <a:pt x="7682" y="2923"/>
                </a:cubicBezTo>
                <a:close/>
                <a:moveTo>
                  <a:pt x="383" y="9073"/>
                </a:moveTo>
                <a:cubicBezTo>
                  <a:pt x="91" y="9199"/>
                  <a:pt x="0" y="9796"/>
                  <a:pt x="0" y="11158"/>
                </a:cubicBezTo>
                <a:cubicBezTo>
                  <a:pt x="0" y="12854"/>
                  <a:pt x="16" y="12895"/>
                  <a:pt x="617" y="12745"/>
                </a:cubicBezTo>
                <a:cubicBezTo>
                  <a:pt x="997" y="12651"/>
                  <a:pt x="1264" y="12831"/>
                  <a:pt x="1308" y="13210"/>
                </a:cubicBezTo>
                <a:cubicBezTo>
                  <a:pt x="1347" y="13550"/>
                  <a:pt x="1490" y="13828"/>
                  <a:pt x="1624" y="13828"/>
                </a:cubicBezTo>
                <a:cubicBezTo>
                  <a:pt x="1797" y="13828"/>
                  <a:pt x="1860" y="13262"/>
                  <a:pt x="1841" y="11875"/>
                </a:cubicBezTo>
                <a:cubicBezTo>
                  <a:pt x="1814" y="9875"/>
                  <a:pt x="1629" y="9405"/>
                  <a:pt x="745" y="9093"/>
                </a:cubicBezTo>
                <a:cubicBezTo>
                  <a:pt x="600" y="9042"/>
                  <a:pt x="480" y="9031"/>
                  <a:pt x="383" y="9073"/>
                </a:cubicBezTo>
                <a:close/>
                <a:moveTo>
                  <a:pt x="3130" y="9392"/>
                </a:moveTo>
                <a:cubicBezTo>
                  <a:pt x="2806" y="9407"/>
                  <a:pt x="2779" y="9670"/>
                  <a:pt x="2779" y="10567"/>
                </a:cubicBezTo>
                <a:cubicBezTo>
                  <a:pt x="2779" y="11755"/>
                  <a:pt x="2834" y="11836"/>
                  <a:pt x="3622" y="11836"/>
                </a:cubicBezTo>
                <a:cubicBezTo>
                  <a:pt x="4399" y="11836"/>
                  <a:pt x="4460" y="11746"/>
                  <a:pt x="4406" y="10713"/>
                </a:cubicBezTo>
                <a:cubicBezTo>
                  <a:pt x="4357" y="9768"/>
                  <a:pt x="4225" y="9571"/>
                  <a:pt x="3563" y="9445"/>
                </a:cubicBezTo>
                <a:cubicBezTo>
                  <a:pt x="3378" y="9410"/>
                  <a:pt x="3238" y="9387"/>
                  <a:pt x="3130" y="9392"/>
                </a:cubicBezTo>
                <a:close/>
                <a:moveTo>
                  <a:pt x="14567" y="12347"/>
                </a:moveTo>
                <a:cubicBezTo>
                  <a:pt x="14419" y="12279"/>
                  <a:pt x="14325" y="12510"/>
                  <a:pt x="14403" y="13097"/>
                </a:cubicBezTo>
                <a:cubicBezTo>
                  <a:pt x="14470" y="13601"/>
                  <a:pt x="14364" y="14013"/>
                  <a:pt x="14091" y="14313"/>
                </a:cubicBezTo>
                <a:cubicBezTo>
                  <a:pt x="13606" y="14843"/>
                  <a:pt x="13360" y="16574"/>
                  <a:pt x="13635" y="17527"/>
                </a:cubicBezTo>
                <a:cubicBezTo>
                  <a:pt x="13838" y="18229"/>
                  <a:pt x="15468" y="18334"/>
                  <a:pt x="15843" y="17666"/>
                </a:cubicBezTo>
                <a:cubicBezTo>
                  <a:pt x="15955" y="17466"/>
                  <a:pt x="16097" y="17541"/>
                  <a:pt x="16160" y="17832"/>
                </a:cubicBezTo>
                <a:cubicBezTo>
                  <a:pt x="16240" y="18206"/>
                  <a:pt x="16343" y="18197"/>
                  <a:pt x="16504" y="17813"/>
                </a:cubicBezTo>
                <a:cubicBezTo>
                  <a:pt x="16637" y="17495"/>
                  <a:pt x="16775" y="17460"/>
                  <a:pt x="16832" y="17726"/>
                </a:cubicBezTo>
                <a:cubicBezTo>
                  <a:pt x="16939" y="18225"/>
                  <a:pt x="18263" y="18155"/>
                  <a:pt x="18442" y="17640"/>
                </a:cubicBezTo>
                <a:cubicBezTo>
                  <a:pt x="18503" y="17465"/>
                  <a:pt x="18574" y="16747"/>
                  <a:pt x="18600" y="16046"/>
                </a:cubicBezTo>
                <a:cubicBezTo>
                  <a:pt x="18655" y="14545"/>
                  <a:pt x="18255" y="13899"/>
                  <a:pt x="17789" y="14738"/>
                </a:cubicBezTo>
                <a:cubicBezTo>
                  <a:pt x="17589" y="15096"/>
                  <a:pt x="17433" y="15124"/>
                  <a:pt x="17367" y="14817"/>
                </a:cubicBezTo>
                <a:cubicBezTo>
                  <a:pt x="17310" y="14551"/>
                  <a:pt x="16823" y="14363"/>
                  <a:pt x="16285" y="14399"/>
                </a:cubicBezTo>
                <a:cubicBezTo>
                  <a:pt x="15464" y="14454"/>
                  <a:pt x="15268" y="14290"/>
                  <a:pt x="15061" y="13396"/>
                </a:cubicBezTo>
                <a:cubicBezTo>
                  <a:pt x="14919" y="12780"/>
                  <a:pt x="14716" y="12415"/>
                  <a:pt x="14567" y="12347"/>
                </a:cubicBezTo>
                <a:close/>
                <a:moveTo>
                  <a:pt x="7849" y="12772"/>
                </a:moveTo>
                <a:cubicBezTo>
                  <a:pt x="7613" y="12725"/>
                  <a:pt x="7366" y="13118"/>
                  <a:pt x="7252" y="13981"/>
                </a:cubicBezTo>
                <a:cubicBezTo>
                  <a:pt x="6934" y="16381"/>
                  <a:pt x="7507" y="19126"/>
                  <a:pt x="8104" y="18065"/>
                </a:cubicBezTo>
                <a:cubicBezTo>
                  <a:pt x="8200" y="17893"/>
                  <a:pt x="8328" y="18110"/>
                  <a:pt x="8386" y="18550"/>
                </a:cubicBezTo>
                <a:cubicBezTo>
                  <a:pt x="8445" y="18990"/>
                  <a:pt x="8582" y="19269"/>
                  <a:pt x="8689" y="19167"/>
                </a:cubicBezTo>
                <a:cubicBezTo>
                  <a:pt x="8990" y="18883"/>
                  <a:pt x="9029" y="16805"/>
                  <a:pt x="8746" y="16152"/>
                </a:cubicBezTo>
                <a:cubicBezTo>
                  <a:pt x="8607" y="15832"/>
                  <a:pt x="8443" y="14954"/>
                  <a:pt x="8382" y="14200"/>
                </a:cubicBezTo>
                <a:cubicBezTo>
                  <a:pt x="8309" y="13300"/>
                  <a:pt x="8084" y="12819"/>
                  <a:pt x="7849" y="12772"/>
                </a:cubicBezTo>
                <a:close/>
                <a:moveTo>
                  <a:pt x="12640" y="12872"/>
                </a:moveTo>
                <a:cubicBezTo>
                  <a:pt x="12576" y="12805"/>
                  <a:pt x="12500" y="13001"/>
                  <a:pt x="12412" y="13456"/>
                </a:cubicBezTo>
                <a:cubicBezTo>
                  <a:pt x="12315" y="13953"/>
                  <a:pt x="12040" y="14326"/>
                  <a:pt x="11767" y="14326"/>
                </a:cubicBezTo>
                <a:cubicBezTo>
                  <a:pt x="11505" y="14326"/>
                  <a:pt x="11205" y="14573"/>
                  <a:pt x="11102" y="14871"/>
                </a:cubicBezTo>
                <a:cubicBezTo>
                  <a:pt x="10966" y="15261"/>
                  <a:pt x="10883" y="15261"/>
                  <a:pt x="10799" y="14871"/>
                </a:cubicBezTo>
                <a:cubicBezTo>
                  <a:pt x="10623" y="14052"/>
                  <a:pt x="9544" y="14198"/>
                  <a:pt x="9430" y="15057"/>
                </a:cubicBezTo>
                <a:cubicBezTo>
                  <a:pt x="9376" y="15459"/>
                  <a:pt x="9408" y="15928"/>
                  <a:pt x="9500" y="16093"/>
                </a:cubicBezTo>
                <a:cubicBezTo>
                  <a:pt x="9593" y="16257"/>
                  <a:pt x="9623" y="16601"/>
                  <a:pt x="9569" y="16856"/>
                </a:cubicBezTo>
                <a:cubicBezTo>
                  <a:pt x="9514" y="17111"/>
                  <a:pt x="9523" y="17561"/>
                  <a:pt x="9587" y="17859"/>
                </a:cubicBezTo>
                <a:cubicBezTo>
                  <a:pt x="9669" y="18242"/>
                  <a:pt x="9755" y="18247"/>
                  <a:pt x="9885" y="17872"/>
                </a:cubicBezTo>
                <a:cubicBezTo>
                  <a:pt x="10015" y="17498"/>
                  <a:pt x="10138" y="17499"/>
                  <a:pt x="10300" y="17886"/>
                </a:cubicBezTo>
                <a:cubicBezTo>
                  <a:pt x="10466" y="18283"/>
                  <a:pt x="10591" y="18283"/>
                  <a:pt x="10758" y="17886"/>
                </a:cubicBezTo>
                <a:cubicBezTo>
                  <a:pt x="10921" y="17497"/>
                  <a:pt x="11041" y="17494"/>
                  <a:pt x="11172" y="17872"/>
                </a:cubicBezTo>
                <a:cubicBezTo>
                  <a:pt x="11302" y="18245"/>
                  <a:pt x="11460" y="18250"/>
                  <a:pt x="11696" y="17886"/>
                </a:cubicBezTo>
                <a:cubicBezTo>
                  <a:pt x="11919" y="17543"/>
                  <a:pt x="12092" y="17530"/>
                  <a:pt x="12205" y="17852"/>
                </a:cubicBezTo>
                <a:cubicBezTo>
                  <a:pt x="12298" y="18123"/>
                  <a:pt x="12504" y="18205"/>
                  <a:pt x="12660" y="18032"/>
                </a:cubicBezTo>
                <a:cubicBezTo>
                  <a:pt x="12883" y="17786"/>
                  <a:pt x="12929" y="17226"/>
                  <a:pt x="12872" y="15468"/>
                </a:cubicBezTo>
                <a:cubicBezTo>
                  <a:pt x="12819" y="13831"/>
                  <a:pt x="12745" y="12982"/>
                  <a:pt x="12640" y="1287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83" name="Screenshot 2026-01-08 at 8.04.10 AM.png" descr="Screenshot 2026-01-08 at 8.04.10 AM.png"/>
          <p:cNvPicPr>
            <a:picLocks noChangeAspect="1"/>
          </p:cNvPicPr>
          <p:nvPr/>
        </p:nvPicPr>
        <p:blipFill>
          <a:blip r:embed="rId4"/>
          <a:srcRect l="41691" t="15000" r="18849" b="8635"/>
          <a:stretch>
            <a:fillRect/>
          </a:stretch>
        </p:blipFill>
        <p:spPr>
          <a:xfrm>
            <a:off x="10992545" y="6764215"/>
            <a:ext cx="2795999" cy="1115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8" h="21585" extrusionOk="0">
                <a:moveTo>
                  <a:pt x="10430" y="0"/>
                </a:moveTo>
                <a:cubicBezTo>
                  <a:pt x="9008" y="0"/>
                  <a:pt x="7842" y="263"/>
                  <a:pt x="7842" y="584"/>
                </a:cubicBezTo>
                <a:cubicBezTo>
                  <a:pt x="7842" y="904"/>
                  <a:pt x="8286" y="2709"/>
                  <a:pt x="8829" y="4592"/>
                </a:cubicBezTo>
                <a:cubicBezTo>
                  <a:pt x="9902" y="8311"/>
                  <a:pt x="9882" y="8977"/>
                  <a:pt x="8587" y="11963"/>
                </a:cubicBezTo>
                <a:cubicBezTo>
                  <a:pt x="8179" y="12905"/>
                  <a:pt x="7842" y="13920"/>
                  <a:pt x="7842" y="14221"/>
                </a:cubicBezTo>
                <a:cubicBezTo>
                  <a:pt x="7842" y="14521"/>
                  <a:pt x="8520" y="14863"/>
                  <a:pt x="9347" y="14981"/>
                </a:cubicBezTo>
                <a:cubicBezTo>
                  <a:pt x="10175" y="15098"/>
                  <a:pt x="11389" y="15084"/>
                  <a:pt x="12045" y="14950"/>
                </a:cubicBezTo>
                <a:cubicBezTo>
                  <a:pt x="13044" y="14747"/>
                  <a:pt x="13270" y="14416"/>
                  <a:pt x="13422" y="12923"/>
                </a:cubicBezTo>
                <a:cubicBezTo>
                  <a:pt x="13659" y="10592"/>
                  <a:pt x="13419" y="10091"/>
                  <a:pt x="12766" y="11548"/>
                </a:cubicBezTo>
                <a:cubicBezTo>
                  <a:pt x="12244" y="12714"/>
                  <a:pt x="10137" y="13196"/>
                  <a:pt x="9749" y="12240"/>
                </a:cubicBezTo>
                <a:cubicBezTo>
                  <a:pt x="9642" y="11975"/>
                  <a:pt x="9903" y="10863"/>
                  <a:pt x="10328" y="9767"/>
                </a:cubicBezTo>
                <a:lnTo>
                  <a:pt x="11104" y="7771"/>
                </a:lnTo>
                <a:lnTo>
                  <a:pt x="10463" y="5636"/>
                </a:lnTo>
                <a:cubicBezTo>
                  <a:pt x="10111" y="4462"/>
                  <a:pt x="9902" y="3191"/>
                  <a:pt x="9997" y="2810"/>
                </a:cubicBezTo>
                <a:cubicBezTo>
                  <a:pt x="10279" y="1687"/>
                  <a:pt x="12196" y="2023"/>
                  <a:pt x="12766" y="3294"/>
                </a:cubicBezTo>
                <a:cubicBezTo>
                  <a:pt x="13451" y="4823"/>
                  <a:pt x="13757" y="4011"/>
                  <a:pt x="13342" y="1766"/>
                </a:cubicBezTo>
                <a:cubicBezTo>
                  <a:pt x="13028" y="68"/>
                  <a:pt x="12910" y="0"/>
                  <a:pt x="10430" y="0"/>
                </a:cubicBezTo>
                <a:close/>
                <a:moveTo>
                  <a:pt x="16503" y="2826"/>
                </a:moveTo>
                <a:cubicBezTo>
                  <a:pt x="15791" y="2826"/>
                  <a:pt x="15225" y="3276"/>
                  <a:pt x="14952" y="4062"/>
                </a:cubicBezTo>
                <a:cubicBezTo>
                  <a:pt x="13766" y="7466"/>
                  <a:pt x="14178" y="10821"/>
                  <a:pt x="15739" y="10489"/>
                </a:cubicBezTo>
                <a:cubicBezTo>
                  <a:pt x="16276" y="10375"/>
                  <a:pt x="16871" y="10674"/>
                  <a:pt x="17064" y="11149"/>
                </a:cubicBezTo>
                <a:cubicBezTo>
                  <a:pt x="17475" y="12163"/>
                  <a:pt x="18061" y="12279"/>
                  <a:pt x="18284" y="11387"/>
                </a:cubicBezTo>
                <a:cubicBezTo>
                  <a:pt x="18555" y="10305"/>
                  <a:pt x="20497" y="10060"/>
                  <a:pt x="20657" y="11088"/>
                </a:cubicBezTo>
                <a:cubicBezTo>
                  <a:pt x="20959" y="13030"/>
                  <a:pt x="21598" y="12034"/>
                  <a:pt x="21598" y="9621"/>
                </a:cubicBezTo>
                <a:cubicBezTo>
                  <a:pt x="21598" y="7889"/>
                  <a:pt x="21412" y="6925"/>
                  <a:pt x="20924" y="6135"/>
                </a:cubicBezTo>
                <a:cubicBezTo>
                  <a:pt x="20176" y="4927"/>
                  <a:pt x="18967" y="5005"/>
                  <a:pt x="18336" y="6296"/>
                </a:cubicBezTo>
                <a:cubicBezTo>
                  <a:pt x="17847" y="7298"/>
                  <a:pt x="17405" y="6064"/>
                  <a:pt x="17539" y="4062"/>
                </a:cubicBezTo>
                <a:cubicBezTo>
                  <a:pt x="17606" y="3060"/>
                  <a:pt x="17410" y="2826"/>
                  <a:pt x="16503" y="2826"/>
                </a:cubicBezTo>
                <a:close/>
                <a:moveTo>
                  <a:pt x="4274" y="2926"/>
                </a:moveTo>
                <a:cubicBezTo>
                  <a:pt x="4121" y="3021"/>
                  <a:pt x="3986" y="3590"/>
                  <a:pt x="3820" y="4669"/>
                </a:cubicBezTo>
                <a:cubicBezTo>
                  <a:pt x="3613" y="6009"/>
                  <a:pt x="3439" y="6321"/>
                  <a:pt x="3182" y="5805"/>
                </a:cubicBezTo>
                <a:cubicBezTo>
                  <a:pt x="2988" y="5415"/>
                  <a:pt x="2183" y="5147"/>
                  <a:pt x="1395" y="5214"/>
                </a:cubicBezTo>
                <a:cubicBezTo>
                  <a:pt x="270" y="5308"/>
                  <a:pt x="6" y="5286"/>
                  <a:pt x="0" y="6926"/>
                </a:cubicBezTo>
                <a:cubicBezTo>
                  <a:pt x="-2" y="7473"/>
                  <a:pt x="25" y="8200"/>
                  <a:pt x="58" y="9184"/>
                </a:cubicBezTo>
                <a:cubicBezTo>
                  <a:pt x="109" y="10689"/>
                  <a:pt x="527" y="11072"/>
                  <a:pt x="825" y="9882"/>
                </a:cubicBezTo>
                <a:cubicBezTo>
                  <a:pt x="924" y="9487"/>
                  <a:pt x="1157" y="9399"/>
                  <a:pt x="1343" y="9690"/>
                </a:cubicBezTo>
                <a:cubicBezTo>
                  <a:pt x="1771" y="10361"/>
                  <a:pt x="6962" y="10555"/>
                  <a:pt x="7125" y="9905"/>
                </a:cubicBezTo>
                <a:cubicBezTo>
                  <a:pt x="7191" y="9640"/>
                  <a:pt x="7146" y="8489"/>
                  <a:pt x="7024" y="7356"/>
                </a:cubicBezTo>
                <a:cubicBezTo>
                  <a:pt x="6846" y="5717"/>
                  <a:pt x="6637" y="5295"/>
                  <a:pt x="6000" y="5267"/>
                </a:cubicBezTo>
                <a:cubicBezTo>
                  <a:pt x="5559" y="5249"/>
                  <a:pt x="5037" y="4693"/>
                  <a:pt x="4841" y="4031"/>
                </a:cubicBezTo>
                <a:cubicBezTo>
                  <a:pt x="4597" y="3210"/>
                  <a:pt x="4427" y="2830"/>
                  <a:pt x="4274" y="2926"/>
                </a:cubicBezTo>
                <a:close/>
                <a:moveTo>
                  <a:pt x="10978" y="16970"/>
                </a:moveTo>
                <a:cubicBezTo>
                  <a:pt x="10932" y="16957"/>
                  <a:pt x="10818" y="17160"/>
                  <a:pt x="10613" y="17576"/>
                </a:cubicBezTo>
                <a:cubicBezTo>
                  <a:pt x="9998" y="18829"/>
                  <a:pt x="10006" y="20240"/>
                  <a:pt x="10635" y="21108"/>
                </a:cubicBezTo>
                <a:cubicBezTo>
                  <a:pt x="10874" y="21437"/>
                  <a:pt x="11040" y="21600"/>
                  <a:pt x="11138" y="21584"/>
                </a:cubicBezTo>
                <a:cubicBezTo>
                  <a:pt x="11301" y="21558"/>
                  <a:pt x="11272" y="21048"/>
                  <a:pt x="11058" y="20026"/>
                </a:cubicBezTo>
                <a:cubicBezTo>
                  <a:pt x="10909" y="19312"/>
                  <a:pt x="10855" y="18251"/>
                  <a:pt x="10938" y="17668"/>
                </a:cubicBezTo>
                <a:cubicBezTo>
                  <a:pt x="11003" y="17214"/>
                  <a:pt x="11025" y="16982"/>
                  <a:pt x="10978" y="1697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84" name="Screenshot 2026-01-08 at 8.05.22 AM.png" descr="Screenshot 2026-01-08 at 8.05.22 AM.png"/>
          <p:cNvPicPr>
            <a:picLocks noChangeAspect="1"/>
          </p:cNvPicPr>
          <p:nvPr/>
        </p:nvPicPr>
        <p:blipFill>
          <a:blip r:embed="rId5"/>
          <a:srcRect l="22950" t="21153" r="13104" b="15547"/>
          <a:stretch>
            <a:fillRect/>
          </a:stretch>
        </p:blipFill>
        <p:spPr>
          <a:xfrm>
            <a:off x="11148865" y="8569264"/>
            <a:ext cx="2639678" cy="11158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2" h="21047" extrusionOk="0">
                <a:moveTo>
                  <a:pt x="2610" y="0"/>
                </a:moveTo>
                <a:cubicBezTo>
                  <a:pt x="1174" y="0"/>
                  <a:pt x="0" y="180"/>
                  <a:pt x="0" y="397"/>
                </a:cubicBezTo>
                <a:cubicBezTo>
                  <a:pt x="0" y="613"/>
                  <a:pt x="442" y="2181"/>
                  <a:pt x="984" y="3885"/>
                </a:cubicBezTo>
                <a:cubicBezTo>
                  <a:pt x="2063" y="7284"/>
                  <a:pt x="2038" y="7972"/>
                  <a:pt x="717" y="10825"/>
                </a:cubicBezTo>
                <a:cubicBezTo>
                  <a:pt x="323" y="11678"/>
                  <a:pt x="0" y="12608"/>
                  <a:pt x="0" y="12899"/>
                </a:cubicBezTo>
                <a:cubicBezTo>
                  <a:pt x="0" y="13189"/>
                  <a:pt x="925" y="13430"/>
                  <a:pt x="2058" y="13430"/>
                </a:cubicBezTo>
                <a:cubicBezTo>
                  <a:pt x="4026" y="13430"/>
                  <a:pt x="4821" y="14073"/>
                  <a:pt x="4107" y="15092"/>
                </a:cubicBezTo>
                <a:cubicBezTo>
                  <a:pt x="3735" y="15622"/>
                  <a:pt x="2462" y="16062"/>
                  <a:pt x="1325" y="16050"/>
                </a:cubicBezTo>
                <a:cubicBezTo>
                  <a:pt x="466" y="16042"/>
                  <a:pt x="214" y="16723"/>
                  <a:pt x="127" y="19292"/>
                </a:cubicBezTo>
                <a:cubicBezTo>
                  <a:pt x="57" y="21337"/>
                  <a:pt x="410" y="21600"/>
                  <a:pt x="1149" y="20055"/>
                </a:cubicBezTo>
                <a:cubicBezTo>
                  <a:pt x="1528" y="19263"/>
                  <a:pt x="1742" y="19182"/>
                  <a:pt x="2026" y="19726"/>
                </a:cubicBezTo>
                <a:cubicBezTo>
                  <a:pt x="2402" y="20447"/>
                  <a:pt x="4379" y="20359"/>
                  <a:pt x="4912" y="19599"/>
                </a:cubicBezTo>
                <a:cubicBezTo>
                  <a:pt x="5340" y="18988"/>
                  <a:pt x="5585" y="16077"/>
                  <a:pt x="5305" y="14920"/>
                </a:cubicBezTo>
                <a:cubicBezTo>
                  <a:pt x="5155" y="14300"/>
                  <a:pt x="5174" y="13190"/>
                  <a:pt x="5353" y="12090"/>
                </a:cubicBezTo>
                <a:cubicBezTo>
                  <a:pt x="5721" y="9842"/>
                  <a:pt x="5426" y="9042"/>
                  <a:pt x="4753" y="10451"/>
                </a:cubicBezTo>
                <a:cubicBezTo>
                  <a:pt x="4220" y="11566"/>
                  <a:pt x="2085" y="11942"/>
                  <a:pt x="1824" y="10967"/>
                </a:cubicBezTo>
                <a:cubicBezTo>
                  <a:pt x="1744" y="10667"/>
                  <a:pt x="1984" y="9747"/>
                  <a:pt x="2360" y="8931"/>
                </a:cubicBezTo>
                <a:cubicBezTo>
                  <a:pt x="3209" y="7089"/>
                  <a:pt x="3209" y="6693"/>
                  <a:pt x="2363" y="4132"/>
                </a:cubicBezTo>
                <a:cubicBezTo>
                  <a:pt x="1989" y="3000"/>
                  <a:pt x="1762" y="1896"/>
                  <a:pt x="1857" y="1677"/>
                </a:cubicBezTo>
                <a:cubicBezTo>
                  <a:pt x="2175" y="943"/>
                  <a:pt x="3728" y="1277"/>
                  <a:pt x="4538" y="2253"/>
                </a:cubicBezTo>
                <a:cubicBezTo>
                  <a:pt x="5468" y="3373"/>
                  <a:pt x="5659" y="3169"/>
                  <a:pt x="5405" y="1325"/>
                </a:cubicBezTo>
                <a:cubicBezTo>
                  <a:pt x="5238" y="105"/>
                  <a:pt x="5009" y="0"/>
                  <a:pt x="2610" y="0"/>
                </a:cubicBezTo>
                <a:close/>
                <a:moveTo>
                  <a:pt x="20829" y="2568"/>
                </a:moveTo>
                <a:cubicBezTo>
                  <a:pt x="20293" y="2593"/>
                  <a:pt x="20066" y="3766"/>
                  <a:pt x="20060" y="6558"/>
                </a:cubicBezTo>
                <a:cubicBezTo>
                  <a:pt x="20053" y="9456"/>
                  <a:pt x="20086" y="9590"/>
                  <a:pt x="20819" y="9590"/>
                </a:cubicBezTo>
                <a:cubicBezTo>
                  <a:pt x="21296" y="9590"/>
                  <a:pt x="21579" y="9265"/>
                  <a:pt x="21592" y="8834"/>
                </a:cubicBezTo>
                <a:cubicBezTo>
                  <a:pt x="21600" y="8575"/>
                  <a:pt x="21512" y="8279"/>
                  <a:pt x="21313" y="7995"/>
                </a:cubicBezTo>
                <a:cubicBezTo>
                  <a:pt x="21161" y="7778"/>
                  <a:pt x="21037" y="6462"/>
                  <a:pt x="21037" y="5076"/>
                </a:cubicBezTo>
                <a:cubicBezTo>
                  <a:pt x="21037" y="3690"/>
                  <a:pt x="20943" y="2562"/>
                  <a:pt x="20829" y="2568"/>
                </a:cubicBezTo>
                <a:close/>
                <a:moveTo>
                  <a:pt x="16037" y="2860"/>
                </a:moveTo>
                <a:cubicBezTo>
                  <a:pt x="15664" y="2777"/>
                  <a:pt x="15772" y="3467"/>
                  <a:pt x="16479" y="4776"/>
                </a:cubicBezTo>
                <a:lnTo>
                  <a:pt x="17300" y="6288"/>
                </a:lnTo>
                <a:lnTo>
                  <a:pt x="16537" y="6970"/>
                </a:lnTo>
                <a:cubicBezTo>
                  <a:pt x="15837" y="7591"/>
                  <a:pt x="15733" y="8373"/>
                  <a:pt x="16034" y="10713"/>
                </a:cubicBezTo>
                <a:cubicBezTo>
                  <a:pt x="16045" y="10801"/>
                  <a:pt x="16615" y="10870"/>
                  <a:pt x="17300" y="10870"/>
                </a:cubicBezTo>
                <a:cubicBezTo>
                  <a:pt x="18644" y="10870"/>
                  <a:pt x="18903" y="10076"/>
                  <a:pt x="17946" y="8894"/>
                </a:cubicBezTo>
                <a:lnTo>
                  <a:pt x="17346" y="8152"/>
                </a:lnTo>
                <a:lnTo>
                  <a:pt x="18011" y="7000"/>
                </a:lnTo>
                <a:cubicBezTo>
                  <a:pt x="18776" y="5666"/>
                  <a:pt x="18789" y="5719"/>
                  <a:pt x="17203" y="3870"/>
                </a:cubicBezTo>
                <a:cubicBezTo>
                  <a:pt x="16658" y="3235"/>
                  <a:pt x="16261" y="2909"/>
                  <a:pt x="16037" y="2860"/>
                </a:cubicBezTo>
                <a:close/>
                <a:moveTo>
                  <a:pt x="12190" y="4477"/>
                </a:moveTo>
                <a:cubicBezTo>
                  <a:pt x="11775" y="4477"/>
                  <a:pt x="11209" y="5053"/>
                  <a:pt x="10934" y="5757"/>
                </a:cubicBezTo>
                <a:cubicBezTo>
                  <a:pt x="10397" y="7128"/>
                  <a:pt x="9552" y="7446"/>
                  <a:pt x="9269" y="6386"/>
                </a:cubicBezTo>
                <a:cubicBezTo>
                  <a:pt x="9173" y="6028"/>
                  <a:pt x="8994" y="5879"/>
                  <a:pt x="8869" y="6056"/>
                </a:cubicBezTo>
                <a:cubicBezTo>
                  <a:pt x="8745" y="6234"/>
                  <a:pt x="8489" y="5951"/>
                  <a:pt x="8301" y="5427"/>
                </a:cubicBezTo>
                <a:cubicBezTo>
                  <a:pt x="7787" y="3995"/>
                  <a:pt x="6986" y="4282"/>
                  <a:pt x="6477" y="6079"/>
                </a:cubicBezTo>
                <a:cubicBezTo>
                  <a:pt x="6111" y="7370"/>
                  <a:pt x="6089" y="7869"/>
                  <a:pt x="6366" y="8639"/>
                </a:cubicBezTo>
                <a:cubicBezTo>
                  <a:pt x="6555" y="9165"/>
                  <a:pt x="6956" y="9590"/>
                  <a:pt x="7256" y="9590"/>
                </a:cubicBezTo>
                <a:cubicBezTo>
                  <a:pt x="7556" y="9590"/>
                  <a:pt x="8119" y="10166"/>
                  <a:pt x="8506" y="10870"/>
                </a:cubicBezTo>
                <a:cubicBezTo>
                  <a:pt x="9379" y="12458"/>
                  <a:pt x="9643" y="12470"/>
                  <a:pt x="10363" y="10930"/>
                </a:cubicBezTo>
                <a:cubicBezTo>
                  <a:pt x="10677" y="10257"/>
                  <a:pt x="11369" y="9607"/>
                  <a:pt x="11901" y="9492"/>
                </a:cubicBezTo>
                <a:cubicBezTo>
                  <a:pt x="12762" y="9308"/>
                  <a:pt x="12862" y="9449"/>
                  <a:pt x="12804" y="10720"/>
                </a:cubicBezTo>
                <a:cubicBezTo>
                  <a:pt x="12713" y="12702"/>
                  <a:pt x="13557" y="12565"/>
                  <a:pt x="14210" y="10496"/>
                </a:cubicBezTo>
                <a:cubicBezTo>
                  <a:pt x="14813" y="8580"/>
                  <a:pt x="14641" y="7037"/>
                  <a:pt x="13823" y="7037"/>
                </a:cubicBezTo>
                <a:cubicBezTo>
                  <a:pt x="13468" y="7037"/>
                  <a:pt x="13177" y="6530"/>
                  <a:pt x="13090" y="5757"/>
                </a:cubicBezTo>
                <a:cubicBezTo>
                  <a:pt x="12989" y="4872"/>
                  <a:pt x="12713" y="4477"/>
                  <a:pt x="12190" y="4477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87" name="Step:1 Restricted Master Problem (RMP)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Step:1 Restricted Master Problem (RMP)</a:t>
            </a:r>
          </a:p>
        </p:txBody>
      </p:sp>
      <p:sp>
        <p:nvSpPr>
          <p:cNvPr id="188" name="• Start with a small subset…"/>
          <p:cNvSpPr txBox="1">
            <a:spLocks noGrp="1"/>
          </p:cNvSpPr>
          <p:nvPr>
            <p:ph type="body" sz="quarter" idx="4294967295"/>
          </p:nvPr>
        </p:nvSpPr>
        <p:spPr>
          <a:xfrm>
            <a:off x="2890984" y="4424093"/>
            <a:ext cx="10975031" cy="4867813"/>
          </a:xfrm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Start with a </a:t>
            </a:r>
            <a:r>
              <a:rPr b="1"/>
              <a:t>small subset</a:t>
            </a:r>
            <a:r>
              <a:t> 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Solve: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0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/>
          </a:p>
          <a:p>
            <a:pPr marL="0" indent="0" defTabSz="12700"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/>
          </a:p>
          <a:p>
            <a:pPr marL="0" indent="0" defTabSz="12700"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Subject to original constraints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rPr b="0"/>
              <a:t>	•	This is called the </a:t>
            </a:r>
            <a:r>
              <a:t>Restricted Master Problem</a:t>
            </a:r>
          </a:p>
        </p:txBody>
      </p:sp>
      <p:pic>
        <p:nvPicPr>
          <p:cNvPr id="189" name="Screenshot 2026-01-08 at 7.37.51 AM.png" descr="Screenshot 2026-01-08 at 7.37.51 AM.png"/>
          <p:cNvPicPr>
            <a:picLocks noChangeAspect="1"/>
          </p:cNvPicPr>
          <p:nvPr/>
        </p:nvPicPr>
        <p:blipFill>
          <a:blip r:embed="rId3"/>
          <a:srcRect l="23155" t="25000" r="25702" b="6573"/>
          <a:stretch>
            <a:fillRect/>
          </a:stretch>
        </p:blipFill>
        <p:spPr>
          <a:xfrm>
            <a:off x="4316730" y="6420116"/>
            <a:ext cx="2943741" cy="1213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2" h="21600" extrusionOk="0">
                <a:moveTo>
                  <a:pt x="10655" y="0"/>
                </a:moveTo>
                <a:cubicBezTo>
                  <a:pt x="9221" y="0"/>
                  <a:pt x="8148" y="172"/>
                  <a:pt x="8087" y="410"/>
                </a:cubicBezTo>
                <a:cubicBezTo>
                  <a:pt x="8030" y="635"/>
                  <a:pt x="8413" y="2239"/>
                  <a:pt x="8940" y="3971"/>
                </a:cubicBezTo>
                <a:cubicBezTo>
                  <a:pt x="9467" y="5703"/>
                  <a:pt x="9934" y="7340"/>
                  <a:pt x="9976" y="7610"/>
                </a:cubicBezTo>
                <a:cubicBezTo>
                  <a:pt x="10019" y="7880"/>
                  <a:pt x="9630" y="9276"/>
                  <a:pt x="9112" y="10719"/>
                </a:cubicBezTo>
                <a:cubicBezTo>
                  <a:pt x="8162" y="13365"/>
                  <a:pt x="8073" y="13750"/>
                  <a:pt x="8288" y="14273"/>
                </a:cubicBezTo>
                <a:cubicBezTo>
                  <a:pt x="8353" y="14431"/>
                  <a:pt x="9490" y="14506"/>
                  <a:pt x="10812" y="14442"/>
                </a:cubicBezTo>
                <a:lnTo>
                  <a:pt x="13214" y="14329"/>
                </a:lnTo>
                <a:lnTo>
                  <a:pt x="13461" y="12584"/>
                </a:lnTo>
                <a:cubicBezTo>
                  <a:pt x="13765" y="10445"/>
                  <a:pt x="13608" y="9920"/>
                  <a:pt x="13045" y="11206"/>
                </a:cubicBezTo>
                <a:cubicBezTo>
                  <a:pt x="12470" y="12519"/>
                  <a:pt x="9724" y="13522"/>
                  <a:pt x="9467" y="12513"/>
                </a:cubicBezTo>
                <a:cubicBezTo>
                  <a:pt x="9417" y="12315"/>
                  <a:pt x="9759" y="11093"/>
                  <a:pt x="10227" y="9793"/>
                </a:cubicBezTo>
                <a:cubicBezTo>
                  <a:pt x="10695" y="8494"/>
                  <a:pt x="11077" y="7343"/>
                  <a:pt x="11077" y="7242"/>
                </a:cubicBezTo>
                <a:cubicBezTo>
                  <a:pt x="11077" y="7142"/>
                  <a:pt x="10731" y="5924"/>
                  <a:pt x="10308" y="4529"/>
                </a:cubicBezTo>
                <a:cubicBezTo>
                  <a:pt x="9886" y="3134"/>
                  <a:pt x="9588" y="1801"/>
                  <a:pt x="9648" y="1569"/>
                </a:cubicBezTo>
                <a:cubicBezTo>
                  <a:pt x="9713" y="1313"/>
                  <a:pt x="10287" y="1221"/>
                  <a:pt x="11103" y="1335"/>
                </a:cubicBezTo>
                <a:cubicBezTo>
                  <a:pt x="12295" y="1503"/>
                  <a:pt x="12512" y="1663"/>
                  <a:pt x="12957" y="2699"/>
                </a:cubicBezTo>
                <a:cubicBezTo>
                  <a:pt x="13374" y="3668"/>
                  <a:pt x="13478" y="3761"/>
                  <a:pt x="13563" y="3222"/>
                </a:cubicBezTo>
                <a:cubicBezTo>
                  <a:pt x="13619" y="2864"/>
                  <a:pt x="13541" y="1992"/>
                  <a:pt x="13391" y="1286"/>
                </a:cubicBezTo>
                <a:lnTo>
                  <a:pt x="13120" y="0"/>
                </a:lnTo>
                <a:lnTo>
                  <a:pt x="10655" y="0"/>
                </a:lnTo>
                <a:close/>
                <a:moveTo>
                  <a:pt x="16788" y="2593"/>
                </a:moveTo>
                <a:cubicBezTo>
                  <a:pt x="15833" y="2492"/>
                  <a:pt x="15099" y="3343"/>
                  <a:pt x="14753" y="4967"/>
                </a:cubicBezTo>
                <a:cubicBezTo>
                  <a:pt x="14014" y="8444"/>
                  <a:pt x="15138" y="11504"/>
                  <a:pt x="16459" y="9609"/>
                </a:cubicBezTo>
                <a:cubicBezTo>
                  <a:pt x="17094" y="8700"/>
                  <a:pt x="17403" y="9050"/>
                  <a:pt x="17403" y="10676"/>
                </a:cubicBezTo>
                <a:cubicBezTo>
                  <a:pt x="17403" y="11955"/>
                  <a:pt x="18042" y="11987"/>
                  <a:pt x="18235" y="10719"/>
                </a:cubicBezTo>
                <a:cubicBezTo>
                  <a:pt x="18357" y="9915"/>
                  <a:pt x="18482" y="9819"/>
                  <a:pt x="19266" y="9920"/>
                </a:cubicBezTo>
                <a:cubicBezTo>
                  <a:pt x="19783" y="9987"/>
                  <a:pt x="20261" y="9819"/>
                  <a:pt x="20407" y="9525"/>
                </a:cubicBezTo>
                <a:cubicBezTo>
                  <a:pt x="20710" y="8912"/>
                  <a:pt x="20895" y="9276"/>
                  <a:pt x="20902" y="10507"/>
                </a:cubicBezTo>
                <a:cubicBezTo>
                  <a:pt x="20905" y="11138"/>
                  <a:pt x="21011" y="11425"/>
                  <a:pt x="21248" y="11425"/>
                </a:cubicBezTo>
                <a:cubicBezTo>
                  <a:pt x="21550" y="11425"/>
                  <a:pt x="21590" y="11147"/>
                  <a:pt x="21591" y="9037"/>
                </a:cubicBezTo>
                <a:cubicBezTo>
                  <a:pt x="21593" y="7388"/>
                  <a:pt x="21528" y="6649"/>
                  <a:pt x="21379" y="6649"/>
                </a:cubicBezTo>
                <a:cubicBezTo>
                  <a:pt x="21260" y="6649"/>
                  <a:pt x="21161" y="6913"/>
                  <a:pt x="21161" y="7242"/>
                </a:cubicBezTo>
                <a:cubicBezTo>
                  <a:pt x="21161" y="8049"/>
                  <a:pt x="20832" y="8501"/>
                  <a:pt x="20619" y="7984"/>
                </a:cubicBezTo>
                <a:cubicBezTo>
                  <a:pt x="20504" y="7704"/>
                  <a:pt x="20508" y="7291"/>
                  <a:pt x="20631" y="6734"/>
                </a:cubicBezTo>
                <a:cubicBezTo>
                  <a:pt x="20877" y="5617"/>
                  <a:pt x="20598" y="5143"/>
                  <a:pt x="19664" y="5080"/>
                </a:cubicBezTo>
                <a:cubicBezTo>
                  <a:pt x="19076" y="5040"/>
                  <a:pt x="18886" y="5214"/>
                  <a:pt x="18675" y="5999"/>
                </a:cubicBezTo>
                <a:cubicBezTo>
                  <a:pt x="18498" y="6652"/>
                  <a:pt x="18302" y="6905"/>
                  <a:pt x="18078" y="6762"/>
                </a:cubicBezTo>
                <a:cubicBezTo>
                  <a:pt x="17852" y="6618"/>
                  <a:pt x="17743" y="6756"/>
                  <a:pt x="17743" y="7193"/>
                </a:cubicBezTo>
                <a:cubicBezTo>
                  <a:pt x="17743" y="8312"/>
                  <a:pt x="17411" y="8396"/>
                  <a:pt x="17210" y="7327"/>
                </a:cubicBezTo>
                <a:cubicBezTo>
                  <a:pt x="17057" y="6508"/>
                  <a:pt x="17073" y="6110"/>
                  <a:pt x="17295" y="5342"/>
                </a:cubicBezTo>
                <a:cubicBezTo>
                  <a:pt x="17447" y="4813"/>
                  <a:pt x="17571" y="3996"/>
                  <a:pt x="17571" y="3526"/>
                </a:cubicBezTo>
                <a:cubicBezTo>
                  <a:pt x="17571" y="2798"/>
                  <a:pt x="17455" y="2664"/>
                  <a:pt x="16788" y="2593"/>
                </a:cubicBezTo>
                <a:close/>
                <a:moveTo>
                  <a:pt x="4568" y="2996"/>
                </a:moveTo>
                <a:cubicBezTo>
                  <a:pt x="4317" y="2920"/>
                  <a:pt x="4038" y="3355"/>
                  <a:pt x="4125" y="3907"/>
                </a:cubicBezTo>
                <a:cubicBezTo>
                  <a:pt x="4175" y="4224"/>
                  <a:pt x="4040" y="4881"/>
                  <a:pt x="3826" y="5370"/>
                </a:cubicBezTo>
                <a:cubicBezTo>
                  <a:pt x="3488" y="6141"/>
                  <a:pt x="3410" y="6175"/>
                  <a:pt x="3229" y="5646"/>
                </a:cubicBezTo>
                <a:cubicBezTo>
                  <a:pt x="3075" y="5194"/>
                  <a:pt x="2665" y="5046"/>
                  <a:pt x="1660" y="5080"/>
                </a:cubicBezTo>
                <a:cubicBezTo>
                  <a:pt x="490" y="5120"/>
                  <a:pt x="23" y="5389"/>
                  <a:pt x="0" y="6253"/>
                </a:cubicBezTo>
                <a:cubicBezTo>
                  <a:pt x="-7" y="6541"/>
                  <a:pt x="35" y="6892"/>
                  <a:pt x="117" y="7327"/>
                </a:cubicBezTo>
                <a:cubicBezTo>
                  <a:pt x="228" y="7918"/>
                  <a:pt x="272" y="8755"/>
                  <a:pt x="216" y="9185"/>
                </a:cubicBezTo>
                <a:cubicBezTo>
                  <a:pt x="139" y="9774"/>
                  <a:pt x="198" y="9970"/>
                  <a:pt x="455" y="9970"/>
                </a:cubicBezTo>
                <a:cubicBezTo>
                  <a:pt x="679" y="9970"/>
                  <a:pt x="815" y="9650"/>
                  <a:pt x="850" y="9037"/>
                </a:cubicBezTo>
                <a:cubicBezTo>
                  <a:pt x="880" y="8523"/>
                  <a:pt x="983" y="8097"/>
                  <a:pt x="1077" y="8097"/>
                </a:cubicBezTo>
                <a:cubicBezTo>
                  <a:pt x="1172" y="8097"/>
                  <a:pt x="1272" y="8523"/>
                  <a:pt x="1302" y="9037"/>
                </a:cubicBezTo>
                <a:cubicBezTo>
                  <a:pt x="1365" y="10122"/>
                  <a:pt x="1762" y="10285"/>
                  <a:pt x="1919" y="9291"/>
                </a:cubicBezTo>
                <a:cubicBezTo>
                  <a:pt x="2018" y="8662"/>
                  <a:pt x="2049" y="8662"/>
                  <a:pt x="2335" y="9291"/>
                </a:cubicBezTo>
                <a:cubicBezTo>
                  <a:pt x="2687" y="10065"/>
                  <a:pt x="3141" y="10175"/>
                  <a:pt x="3304" y="9532"/>
                </a:cubicBezTo>
                <a:cubicBezTo>
                  <a:pt x="3370" y="9275"/>
                  <a:pt x="3496" y="9247"/>
                  <a:pt x="3613" y="9461"/>
                </a:cubicBezTo>
                <a:cubicBezTo>
                  <a:pt x="3891" y="9969"/>
                  <a:pt x="4554" y="9993"/>
                  <a:pt x="4678" y="9503"/>
                </a:cubicBezTo>
                <a:cubicBezTo>
                  <a:pt x="4744" y="9247"/>
                  <a:pt x="4876" y="9287"/>
                  <a:pt x="5036" y="9609"/>
                </a:cubicBezTo>
                <a:cubicBezTo>
                  <a:pt x="5240" y="10019"/>
                  <a:pt x="5365" y="10016"/>
                  <a:pt x="5642" y="9595"/>
                </a:cubicBezTo>
                <a:cubicBezTo>
                  <a:pt x="5892" y="9216"/>
                  <a:pt x="6042" y="9195"/>
                  <a:pt x="6175" y="9518"/>
                </a:cubicBezTo>
                <a:cubicBezTo>
                  <a:pt x="6633" y="10631"/>
                  <a:pt x="7476" y="9408"/>
                  <a:pt x="7223" y="7998"/>
                </a:cubicBezTo>
                <a:cubicBezTo>
                  <a:pt x="7150" y="7596"/>
                  <a:pt x="7109" y="7022"/>
                  <a:pt x="7130" y="6720"/>
                </a:cubicBezTo>
                <a:cubicBezTo>
                  <a:pt x="7201" y="5664"/>
                  <a:pt x="6793" y="5059"/>
                  <a:pt x="6026" y="5087"/>
                </a:cubicBezTo>
                <a:cubicBezTo>
                  <a:pt x="5607" y="5103"/>
                  <a:pt x="5177" y="5371"/>
                  <a:pt x="5071" y="5681"/>
                </a:cubicBezTo>
                <a:cubicBezTo>
                  <a:pt x="4925" y="6111"/>
                  <a:pt x="4823" y="6126"/>
                  <a:pt x="4641" y="5759"/>
                </a:cubicBezTo>
                <a:cubicBezTo>
                  <a:pt x="4439" y="5352"/>
                  <a:pt x="4447" y="5162"/>
                  <a:pt x="4693" y="4501"/>
                </a:cubicBezTo>
                <a:cubicBezTo>
                  <a:pt x="4906" y="3929"/>
                  <a:pt x="4934" y="3595"/>
                  <a:pt x="4795" y="3257"/>
                </a:cubicBezTo>
                <a:cubicBezTo>
                  <a:pt x="4732" y="3105"/>
                  <a:pt x="4651" y="3021"/>
                  <a:pt x="4568" y="2996"/>
                </a:cubicBezTo>
                <a:close/>
                <a:moveTo>
                  <a:pt x="11004" y="16322"/>
                </a:moveTo>
                <a:cubicBezTo>
                  <a:pt x="10936" y="16275"/>
                  <a:pt x="10861" y="16449"/>
                  <a:pt x="10794" y="16901"/>
                </a:cubicBezTo>
                <a:cubicBezTo>
                  <a:pt x="10734" y="17316"/>
                  <a:pt x="10577" y="17954"/>
                  <a:pt x="10448" y="18321"/>
                </a:cubicBezTo>
                <a:cubicBezTo>
                  <a:pt x="10248" y="18890"/>
                  <a:pt x="10251" y="19064"/>
                  <a:pt x="10471" y="19509"/>
                </a:cubicBezTo>
                <a:cubicBezTo>
                  <a:pt x="10614" y="19796"/>
                  <a:pt x="10689" y="20196"/>
                  <a:pt x="10637" y="20399"/>
                </a:cubicBezTo>
                <a:cubicBezTo>
                  <a:pt x="10586" y="20601"/>
                  <a:pt x="10591" y="20955"/>
                  <a:pt x="10649" y="21183"/>
                </a:cubicBezTo>
                <a:cubicBezTo>
                  <a:pt x="10707" y="21412"/>
                  <a:pt x="10826" y="21600"/>
                  <a:pt x="10911" y="21600"/>
                </a:cubicBezTo>
                <a:cubicBezTo>
                  <a:pt x="11137" y="21600"/>
                  <a:pt x="11446" y="20024"/>
                  <a:pt x="11272" y="19763"/>
                </a:cubicBezTo>
                <a:cubicBezTo>
                  <a:pt x="11191" y="19641"/>
                  <a:pt x="11147" y="18885"/>
                  <a:pt x="11173" y="18081"/>
                </a:cubicBezTo>
                <a:cubicBezTo>
                  <a:pt x="11205" y="17084"/>
                  <a:pt x="11117" y="16400"/>
                  <a:pt x="11004" y="16322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92" name="Restricted Master Problem in Crew Scheduling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Restricted Master Problem in Crew Scheduling</a:t>
            </a:r>
          </a:p>
        </p:txBody>
      </p:sp>
      <p:sp>
        <p:nvSpPr>
          <p:cNvPr id="193" name="• Start with:…"/>
          <p:cNvSpPr txBox="1">
            <a:spLocks noGrp="1"/>
          </p:cNvSpPr>
          <p:nvPr>
            <p:ph type="body" sz="half" idx="4294967295"/>
          </p:nvPr>
        </p:nvSpPr>
        <p:spPr>
          <a:xfrm>
            <a:off x="2813513" y="3762897"/>
            <a:ext cx="10975031" cy="6643835"/>
          </a:xfrm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•	Start with:</a:t>
            </a:r>
          </a:p>
          <a:p>
            <a:pPr marL="419100" lvl="1" indent="38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317500" algn="r"/>
                <a:tab pos="419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Simple pairings</a:t>
            </a:r>
          </a:p>
          <a:p>
            <a:pPr marL="419100" lvl="1" indent="38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317500" algn="r"/>
                <a:tab pos="419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Single-flight or short pairings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Solve LP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Obtain dual prices for flights</a:t>
            </a:r>
          </a:p>
        </p:txBody>
      </p:sp>
      <p:pic>
        <p:nvPicPr>
          <p:cNvPr id="194" name="code.png" descr="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1549" y="4095044"/>
            <a:ext cx="9663617" cy="59795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97" name="Dual Variables (Shadow Prices)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Dual Variables (Shadow Prices)</a:t>
            </a:r>
          </a:p>
        </p:txBody>
      </p:sp>
      <p:sp>
        <p:nvSpPr>
          <p:cNvPr id="198" name="Solving RMP gives:…"/>
          <p:cNvSpPr txBox="1">
            <a:spLocks noGrp="1"/>
          </p:cNvSpPr>
          <p:nvPr>
            <p:ph type="body" sz="quarter" idx="4294967295"/>
          </p:nvPr>
        </p:nvSpPr>
        <p:spPr>
          <a:xfrm>
            <a:off x="2813513" y="4154578"/>
            <a:ext cx="10975031" cy="5798525"/>
          </a:xfrm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42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	Solving RMP gives:</a:t>
            </a:r>
          </a:p>
          <a:p>
            <a:pPr marL="419100" lvl="1" indent="38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317500" algn="r"/>
                <a:tab pos="419100" algn="l"/>
              </a:tabLst>
              <a:defRPr sz="30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Primal variables</a:t>
            </a:r>
          </a:p>
          <a:p>
            <a:pPr marL="419100" lvl="1" indent="38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317500" algn="r"/>
                <a:tab pos="419100" algn="l"/>
              </a:tabLst>
              <a:defRPr sz="30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Dual variables π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42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 Dual variables represent:</a:t>
            </a:r>
          </a:p>
          <a:p>
            <a:pPr marL="419100" lvl="1" indent="38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317500" algn="r"/>
                <a:tab pos="419100" algn="l"/>
              </a:tabLst>
              <a:defRPr sz="30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Marginal value of satisfying each constraint</a:t>
            </a:r>
          </a:p>
        </p:txBody>
      </p:sp>
      <p:pic>
        <p:nvPicPr>
          <p:cNvPr id="199" name="code.png" descr="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409" y="4047480"/>
            <a:ext cx="11932705" cy="56464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202" name="Reduced Cost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Reduced Cost</a:t>
            </a:r>
          </a:p>
        </p:txBody>
      </p:sp>
      <p:sp>
        <p:nvSpPr>
          <p:cNvPr id="203" name="For any variable i:…"/>
          <p:cNvSpPr txBox="1">
            <a:spLocks noGrp="1"/>
          </p:cNvSpPr>
          <p:nvPr>
            <p:ph type="body" sz="half" idx="4294967295"/>
          </p:nvPr>
        </p:nvSpPr>
        <p:spPr>
          <a:xfrm>
            <a:off x="2813513" y="3762897"/>
            <a:ext cx="10975031" cy="6190206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76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/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3864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For any variable i: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76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/>
          </a:p>
          <a:p>
            <a:pPr marL="0" indent="0" defTabSz="914400"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76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/>
          </a:p>
          <a:p>
            <a:pPr marL="151892" indent="-151892" defTabSz="914400">
              <a:lnSpc>
                <a:spcPct val="135000"/>
              </a:lnSpc>
              <a:spcBef>
                <a:spcPts val="1100"/>
              </a:spcBef>
              <a:buSzTx/>
              <a:buNone/>
              <a:tabLst>
                <a:tab pos="50800" algn="r"/>
                <a:tab pos="139700" algn="l"/>
              </a:tabLst>
              <a:defRPr sz="3128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If reduced cost &lt; 0:</a:t>
            </a:r>
          </a:p>
          <a:p>
            <a:pPr marL="385572" indent="-385572" defTabSz="914400">
              <a:lnSpc>
                <a:spcPct val="135000"/>
              </a:lnSpc>
              <a:spcBef>
                <a:spcPts val="1100"/>
              </a:spcBef>
              <a:buSzTx/>
              <a:buNone/>
              <a:tabLst>
                <a:tab pos="292100" algn="r"/>
                <a:tab pos="381000" algn="l"/>
              </a:tabLst>
              <a:defRPr sz="3128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Variable can improve solution</a:t>
            </a:r>
          </a:p>
          <a:p>
            <a:pPr marL="151892" indent="-151892" defTabSz="914400">
              <a:lnSpc>
                <a:spcPct val="135000"/>
              </a:lnSpc>
              <a:spcBef>
                <a:spcPts val="1100"/>
              </a:spcBef>
              <a:buSzTx/>
              <a:buNone/>
              <a:tabLst>
                <a:tab pos="50800" algn="r"/>
                <a:tab pos="139700" algn="l"/>
              </a:tabLst>
              <a:defRPr sz="3128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If all reduced costs ≥ 0:</a:t>
            </a:r>
          </a:p>
          <a:p>
            <a:pPr marL="385572" indent="-385572" defTabSz="914400">
              <a:lnSpc>
                <a:spcPct val="135000"/>
              </a:lnSpc>
              <a:spcBef>
                <a:spcPts val="1100"/>
              </a:spcBef>
              <a:buSzTx/>
              <a:buNone/>
              <a:tabLst>
                <a:tab pos="292100" algn="r"/>
                <a:tab pos="381000" algn="l"/>
              </a:tabLst>
              <a:defRPr sz="3128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Current solution is optimal (LP)</a:t>
            </a:r>
          </a:p>
        </p:txBody>
      </p:sp>
      <p:pic>
        <p:nvPicPr>
          <p:cNvPr id="204" name="Screenshot 2026-01-08 at 7.52.43 AM.png" descr="Screenshot 2026-01-08 at 7.52.43 AM.png"/>
          <p:cNvPicPr>
            <a:picLocks noChangeAspect="1"/>
          </p:cNvPicPr>
          <p:nvPr/>
        </p:nvPicPr>
        <p:blipFill>
          <a:blip r:embed="rId3"/>
          <a:srcRect l="10393" t="25806" r="12418" b="6438"/>
          <a:stretch>
            <a:fillRect/>
          </a:stretch>
        </p:blipFill>
        <p:spPr>
          <a:xfrm>
            <a:off x="4143734" y="5590250"/>
            <a:ext cx="6010161" cy="7536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5" h="21600" extrusionOk="0">
                <a:moveTo>
                  <a:pt x="18381" y="0"/>
                </a:moveTo>
                <a:cubicBezTo>
                  <a:pt x="17700" y="0"/>
                  <a:pt x="17144" y="392"/>
                  <a:pt x="17144" y="876"/>
                </a:cubicBezTo>
                <a:cubicBezTo>
                  <a:pt x="17144" y="1360"/>
                  <a:pt x="17355" y="3924"/>
                  <a:pt x="17614" y="6574"/>
                </a:cubicBezTo>
                <a:lnTo>
                  <a:pt x="18086" y="11397"/>
                </a:lnTo>
                <a:lnTo>
                  <a:pt x="17614" y="15481"/>
                </a:lnTo>
                <a:cubicBezTo>
                  <a:pt x="17355" y="17721"/>
                  <a:pt x="17144" y="20001"/>
                  <a:pt x="17144" y="20565"/>
                </a:cubicBezTo>
                <a:cubicBezTo>
                  <a:pt x="17144" y="21171"/>
                  <a:pt x="17631" y="21600"/>
                  <a:pt x="18334" y="21600"/>
                </a:cubicBezTo>
                <a:cubicBezTo>
                  <a:pt x="19499" y="21600"/>
                  <a:pt x="19527" y="21537"/>
                  <a:pt x="19657" y="18882"/>
                </a:cubicBezTo>
                <a:cubicBezTo>
                  <a:pt x="19827" y="15393"/>
                  <a:pt x="19741" y="14811"/>
                  <a:pt x="19365" y="16868"/>
                </a:cubicBezTo>
                <a:cubicBezTo>
                  <a:pt x="19040" y="18643"/>
                  <a:pt x="18128" y="19104"/>
                  <a:pt x="18006" y="17562"/>
                </a:cubicBezTo>
                <a:cubicBezTo>
                  <a:pt x="17965" y="17044"/>
                  <a:pt x="18086" y="15221"/>
                  <a:pt x="18273" y="13490"/>
                </a:cubicBezTo>
                <a:lnTo>
                  <a:pt x="18612" y="10328"/>
                </a:lnTo>
                <a:lnTo>
                  <a:pt x="18274" y="6882"/>
                </a:lnTo>
                <a:cubicBezTo>
                  <a:pt x="18088" y="4980"/>
                  <a:pt x="17975" y="3116"/>
                  <a:pt x="18023" y="2741"/>
                </a:cubicBezTo>
                <a:cubicBezTo>
                  <a:pt x="18190" y="1440"/>
                  <a:pt x="19065" y="2071"/>
                  <a:pt x="19365" y="3708"/>
                </a:cubicBezTo>
                <a:cubicBezTo>
                  <a:pt x="19722" y="5661"/>
                  <a:pt x="19798" y="5326"/>
                  <a:pt x="19695" y="2264"/>
                </a:cubicBezTo>
                <a:cubicBezTo>
                  <a:pt x="19624" y="127"/>
                  <a:pt x="19546" y="0"/>
                  <a:pt x="18381" y="0"/>
                </a:cubicBezTo>
                <a:close/>
                <a:moveTo>
                  <a:pt x="706" y="3094"/>
                </a:moveTo>
                <a:cubicBezTo>
                  <a:pt x="343" y="3094"/>
                  <a:pt x="312" y="3385"/>
                  <a:pt x="299" y="6791"/>
                </a:cubicBezTo>
                <a:cubicBezTo>
                  <a:pt x="292" y="8829"/>
                  <a:pt x="219" y="11005"/>
                  <a:pt x="140" y="11625"/>
                </a:cubicBezTo>
                <a:cubicBezTo>
                  <a:pt x="43" y="12375"/>
                  <a:pt x="-2" y="12987"/>
                  <a:pt x="0" y="13433"/>
                </a:cubicBezTo>
                <a:cubicBezTo>
                  <a:pt x="3" y="14177"/>
                  <a:pt x="139" y="14455"/>
                  <a:pt x="396" y="14161"/>
                </a:cubicBezTo>
                <a:cubicBezTo>
                  <a:pt x="617" y="13908"/>
                  <a:pt x="829" y="14083"/>
                  <a:pt x="865" y="14536"/>
                </a:cubicBezTo>
                <a:cubicBezTo>
                  <a:pt x="901" y="14990"/>
                  <a:pt x="1180" y="15124"/>
                  <a:pt x="1485" y="14844"/>
                </a:cubicBezTo>
                <a:cubicBezTo>
                  <a:pt x="2189" y="14196"/>
                  <a:pt x="2229" y="14199"/>
                  <a:pt x="2670" y="14718"/>
                </a:cubicBezTo>
                <a:cubicBezTo>
                  <a:pt x="2871" y="14955"/>
                  <a:pt x="3069" y="14723"/>
                  <a:pt x="3110" y="14207"/>
                </a:cubicBezTo>
                <a:cubicBezTo>
                  <a:pt x="3155" y="13641"/>
                  <a:pt x="3246" y="13646"/>
                  <a:pt x="3338" y="14218"/>
                </a:cubicBezTo>
                <a:cubicBezTo>
                  <a:pt x="3507" y="15265"/>
                  <a:pt x="4028" y="15179"/>
                  <a:pt x="4169" y="14082"/>
                </a:cubicBezTo>
                <a:cubicBezTo>
                  <a:pt x="4218" y="13698"/>
                  <a:pt x="4334" y="13880"/>
                  <a:pt x="4427" y="14480"/>
                </a:cubicBezTo>
                <a:cubicBezTo>
                  <a:pt x="4543" y="15230"/>
                  <a:pt x="4674" y="15237"/>
                  <a:pt x="4848" y="14514"/>
                </a:cubicBezTo>
                <a:cubicBezTo>
                  <a:pt x="5020" y="13793"/>
                  <a:pt x="5143" y="13810"/>
                  <a:pt x="5238" y="14548"/>
                </a:cubicBezTo>
                <a:cubicBezTo>
                  <a:pt x="5334" y="15296"/>
                  <a:pt x="5456" y="15275"/>
                  <a:pt x="5644" y="14491"/>
                </a:cubicBezTo>
                <a:cubicBezTo>
                  <a:pt x="5807" y="13812"/>
                  <a:pt x="5945" y="13743"/>
                  <a:pt x="5991" y="14320"/>
                </a:cubicBezTo>
                <a:cubicBezTo>
                  <a:pt x="6073" y="15361"/>
                  <a:pt x="6667" y="15163"/>
                  <a:pt x="6810" y="14047"/>
                </a:cubicBezTo>
                <a:cubicBezTo>
                  <a:pt x="6859" y="13670"/>
                  <a:pt x="6909" y="11050"/>
                  <a:pt x="6921" y="8224"/>
                </a:cubicBezTo>
                <a:cubicBezTo>
                  <a:pt x="6942" y="3750"/>
                  <a:pt x="6913" y="3094"/>
                  <a:pt x="6689" y="3094"/>
                </a:cubicBezTo>
                <a:cubicBezTo>
                  <a:pt x="6517" y="3094"/>
                  <a:pt x="6456" y="3586"/>
                  <a:pt x="6505" y="4595"/>
                </a:cubicBezTo>
                <a:cubicBezTo>
                  <a:pt x="6520" y="4893"/>
                  <a:pt x="6529" y="5161"/>
                  <a:pt x="6531" y="5403"/>
                </a:cubicBezTo>
                <a:cubicBezTo>
                  <a:pt x="6537" y="6128"/>
                  <a:pt x="6479" y="6605"/>
                  <a:pt x="6317" y="6938"/>
                </a:cubicBezTo>
                <a:cubicBezTo>
                  <a:pt x="6209" y="7161"/>
                  <a:pt x="6055" y="7317"/>
                  <a:pt x="5844" y="7427"/>
                </a:cubicBezTo>
                <a:cubicBezTo>
                  <a:pt x="5632" y="7537"/>
                  <a:pt x="5362" y="7609"/>
                  <a:pt x="5023" y="7655"/>
                </a:cubicBezTo>
                <a:cubicBezTo>
                  <a:pt x="3688" y="7838"/>
                  <a:pt x="3294" y="7122"/>
                  <a:pt x="3294" y="4516"/>
                </a:cubicBezTo>
                <a:cubicBezTo>
                  <a:pt x="3294" y="3563"/>
                  <a:pt x="3202" y="3078"/>
                  <a:pt x="3063" y="3287"/>
                </a:cubicBezTo>
                <a:cubicBezTo>
                  <a:pt x="2936" y="3478"/>
                  <a:pt x="2832" y="4217"/>
                  <a:pt x="2832" y="4936"/>
                </a:cubicBezTo>
                <a:cubicBezTo>
                  <a:pt x="2832" y="8515"/>
                  <a:pt x="1877" y="8560"/>
                  <a:pt x="1373" y="5005"/>
                </a:cubicBezTo>
                <a:cubicBezTo>
                  <a:pt x="1223" y="3949"/>
                  <a:pt x="922" y="3094"/>
                  <a:pt x="706" y="3094"/>
                </a:cubicBezTo>
                <a:close/>
                <a:moveTo>
                  <a:pt x="14051" y="3287"/>
                </a:moveTo>
                <a:cubicBezTo>
                  <a:pt x="13467" y="3116"/>
                  <a:pt x="13053" y="5958"/>
                  <a:pt x="13053" y="10157"/>
                </a:cubicBezTo>
                <a:cubicBezTo>
                  <a:pt x="13053" y="14364"/>
                  <a:pt x="13366" y="16118"/>
                  <a:pt x="13857" y="14673"/>
                </a:cubicBezTo>
                <a:cubicBezTo>
                  <a:pt x="14191" y="13689"/>
                  <a:pt x="14263" y="13807"/>
                  <a:pt x="14382" y="15537"/>
                </a:cubicBezTo>
                <a:cubicBezTo>
                  <a:pt x="14457" y="16637"/>
                  <a:pt x="14574" y="17269"/>
                  <a:pt x="14642" y="16936"/>
                </a:cubicBezTo>
                <a:cubicBezTo>
                  <a:pt x="14837" y="15998"/>
                  <a:pt x="14793" y="9556"/>
                  <a:pt x="14587" y="8940"/>
                </a:cubicBezTo>
                <a:cubicBezTo>
                  <a:pt x="14476" y="8608"/>
                  <a:pt x="14430" y="7423"/>
                  <a:pt x="14467" y="5903"/>
                </a:cubicBezTo>
                <a:cubicBezTo>
                  <a:pt x="14522" y="3668"/>
                  <a:pt x="14480" y="3413"/>
                  <a:pt x="14051" y="3287"/>
                </a:cubicBezTo>
                <a:close/>
                <a:moveTo>
                  <a:pt x="10309" y="4300"/>
                </a:moveTo>
                <a:cubicBezTo>
                  <a:pt x="10258" y="4245"/>
                  <a:pt x="10192" y="4700"/>
                  <a:pt x="10107" y="5608"/>
                </a:cubicBezTo>
                <a:cubicBezTo>
                  <a:pt x="9961" y="7166"/>
                  <a:pt x="9738" y="7462"/>
                  <a:pt x="8727" y="7462"/>
                </a:cubicBezTo>
                <a:cubicBezTo>
                  <a:pt x="7627" y="7462"/>
                  <a:pt x="7505" y="7669"/>
                  <a:pt x="7329" y="9759"/>
                </a:cubicBezTo>
                <a:cubicBezTo>
                  <a:pt x="7160" y="11773"/>
                  <a:pt x="7162" y="12234"/>
                  <a:pt x="7338" y="13604"/>
                </a:cubicBezTo>
                <a:cubicBezTo>
                  <a:pt x="7550" y="15259"/>
                  <a:pt x="8504" y="15538"/>
                  <a:pt x="8806" y="14036"/>
                </a:cubicBezTo>
                <a:cubicBezTo>
                  <a:pt x="8903" y="13549"/>
                  <a:pt x="9055" y="13708"/>
                  <a:pt x="9161" y="14389"/>
                </a:cubicBezTo>
                <a:cubicBezTo>
                  <a:pt x="9290" y="15223"/>
                  <a:pt x="9420" y="15253"/>
                  <a:pt x="9597" y="14514"/>
                </a:cubicBezTo>
                <a:cubicBezTo>
                  <a:pt x="9772" y="13781"/>
                  <a:pt x="9892" y="13820"/>
                  <a:pt x="9994" y="14616"/>
                </a:cubicBezTo>
                <a:cubicBezTo>
                  <a:pt x="10267" y="16738"/>
                  <a:pt x="10535" y="13683"/>
                  <a:pt x="10480" y="9077"/>
                </a:cubicBezTo>
                <a:cubicBezTo>
                  <a:pt x="10443" y="5896"/>
                  <a:pt x="10395" y="4391"/>
                  <a:pt x="10309" y="4300"/>
                </a:cubicBezTo>
                <a:close/>
                <a:moveTo>
                  <a:pt x="20660" y="7200"/>
                </a:moveTo>
                <a:cubicBezTo>
                  <a:pt x="20167" y="7200"/>
                  <a:pt x="20007" y="7957"/>
                  <a:pt x="20148" y="9645"/>
                </a:cubicBezTo>
                <a:cubicBezTo>
                  <a:pt x="20201" y="10274"/>
                  <a:pt x="20243" y="11674"/>
                  <a:pt x="20243" y="12739"/>
                </a:cubicBezTo>
                <a:cubicBezTo>
                  <a:pt x="20243" y="14111"/>
                  <a:pt x="20353" y="14766"/>
                  <a:pt x="20620" y="14991"/>
                </a:cubicBezTo>
                <a:cubicBezTo>
                  <a:pt x="20828" y="15166"/>
                  <a:pt x="21017" y="15469"/>
                  <a:pt x="21042" y="15663"/>
                </a:cubicBezTo>
                <a:cubicBezTo>
                  <a:pt x="21067" y="15856"/>
                  <a:pt x="21204" y="16015"/>
                  <a:pt x="21346" y="16015"/>
                </a:cubicBezTo>
                <a:cubicBezTo>
                  <a:pt x="21538" y="16015"/>
                  <a:pt x="21598" y="15365"/>
                  <a:pt x="21582" y="13456"/>
                </a:cubicBezTo>
                <a:cubicBezTo>
                  <a:pt x="21552" y="9778"/>
                  <a:pt x="21172" y="7200"/>
                  <a:pt x="20660" y="7200"/>
                </a:cubicBezTo>
                <a:close/>
                <a:moveTo>
                  <a:pt x="11810" y="8224"/>
                </a:moveTo>
                <a:cubicBezTo>
                  <a:pt x="11188" y="8224"/>
                  <a:pt x="11070" y="8486"/>
                  <a:pt x="11187" y="9589"/>
                </a:cubicBezTo>
                <a:cubicBezTo>
                  <a:pt x="11293" y="10583"/>
                  <a:pt x="11291" y="11276"/>
                  <a:pt x="11177" y="12159"/>
                </a:cubicBezTo>
                <a:cubicBezTo>
                  <a:pt x="11059" y="13086"/>
                  <a:pt x="11187" y="13365"/>
                  <a:pt x="11723" y="13365"/>
                </a:cubicBezTo>
                <a:cubicBezTo>
                  <a:pt x="12264" y="13365"/>
                  <a:pt x="12406" y="13037"/>
                  <a:pt x="12352" y="11943"/>
                </a:cubicBezTo>
                <a:cubicBezTo>
                  <a:pt x="12314" y="11164"/>
                  <a:pt x="12350" y="10018"/>
                  <a:pt x="12432" y="9384"/>
                </a:cubicBezTo>
                <a:cubicBezTo>
                  <a:pt x="12541" y="8531"/>
                  <a:pt x="12378" y="8224"/>
                  <a:pt x="11810" y="8224"/>
                </a:cubicBezTo>
                <a:close/>
                <a:moveTo>
                  <a:pt x="16029" y="9247"/>
                </a:moveTo>
                <a:cubicBezTo>
                  <a:pt x="15707" y="9247"/>
                  <a:pt x="15407" y="9717"/>
                  <a:pt x="15362" y="10282"/>
                </a:cubicBezTo>
                <a:cubicBezTo>
                  <a:pt x="15312" y="10916"/>
                  <a:pt x="15537" y="11306"/>
                  <a:pt x="15948" y="11306"/>
                </a:cubicBezTo>
                <a:cubicBezTo>
                  <a:pt x="16315" y="11306"/>
                  <a:pt x="16617" y="10848"/>
                  <a:pt x="16617" y="10282"/>
                </a:cubicBezTo>
                <a:cubicBezTo>
                  <a:pt x="16617" y="9717"/>
                  <a:pt x="16351" y="9247"/>
                  <a:pt x="16029" y="9247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05" name="code.png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7064" y="4075686"/>
            <a:ext cx="12698017" cy="51559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208" name="Step:2 Pricing Problem(Sub Problem)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 Step:2 Pricing Problem(Sub Problem)</a:t>
            </a:r>
          </a:p>
        </p:txBody>
      </p:sp>
      <p:sp>
        <p:nvSpPr>
          <p:cNvPr id="209" name="• Goal: find variables with negative reduced cost…"/>
          <p:cNvSpPr txBox="1">
            <a:spLocks noGrp="1"/>
          </p:cNvSpPr>
          <p:nvPr>
            <p:ph type="body" sz="quarter" idx="4294967295"/>
          </p:nvPr>
        </p:nvSpPr>
        <p:spPr>
          <a:xfrm>
            <a:off x="2484261" y="3245353"/>
            <a:ext cx="10975031" cy="5825987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4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 b="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Goal: find variables with </a:t>
            </a:r>
            <a:r>
              <a:rPr b="1"/>
              <a:t>negative reduced cost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This is called the </a:t>
            </a:r>
            <a:r>
              <a:rPr b="1"/>
              <a:t>Pricing Problem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It is problem-specific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For scheduling problems:</a:t>
            </a:r>
          </a:p>
          <a:p>
            <a:pPr marL="419100" indent="-419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317500" algn="r"/>
                <a:tab pos="419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Often a shortest path problem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212" name="Pricing Problem in Crew Scheduling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Pricing Problem in Crew Scheduling</a:t>
            </a:r>
          </a:p>
        </p:txBody>
      </p:sp>
      <p:sp>
        <p:nvSpPr>
          <p:cNvPr id="213" name="• Generate new crew pairings…"/>
          <p:cNvSpPr txBox="1">
            <a:spLocks noGrp="1"/>
          </p:cNvSpPr>
          <p:nvPr>
            <p:ph type="body" sz="half" idx="4294967295"/>
          </p:nvPr>
        </p:nvSpPr>
        <p:spPr>
          <a:xfrm>
            <a:off x="2813513" y="3762897"/>
            <a:ext cx="10975031" cy="6643835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 sz="3000" b="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Generate new crew pairings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Objective:</a:t>
            </a:r>
          </a:p>
          <a:p>
            <a:pPr marL="165100" lvl="5" indent="21209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min</a:t>
            </a:r>
          </a:p>
          <a:p>
            <a:pPr marL="0" indent="0" defTabSz="12700"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 sz="340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This becomes:</a:t>
            </a:r>
          </a:p>
          <a:p>
            <a:pPr marL="419100" indent="-419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317500" algn="r"/>
                <a:tab pos="419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Shortest path problem with constraints</a:t>
            </a:r>
          </a:p>
        </p:txBody>
      </p:sp>
      <p:pic>
        <p:nvPicPr>
          <p:cNvPr id="214" name="Screenshot 2026-01-08 at 8.08.45 AM.png" descr="Screenshot 2026-01-08 at 8.08.45 AM.png"/>
          <p:cNvPicPr>
            <a:picLocks noChangeAspect="1"/>
          </p:cNvPicPr>
          <p:nvPr/>
        </p:nvPicPr>
        <p:blipFill>
          <a:blip r:embed="rId3"/>
          <a:srcRect l="23730" t="16577" r="12225" b="20614"/>
          <a:stretch>
            <a:fillRect/>
          </a:stretch>
        </p:blipFill>
        <p:spPr>
          <a:xfrm>
            <a:off x="6134568" y="6530251"/>
            <a:ext cx="3313173" cy="14302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0" h="21334" extrusionOk="0">
                <a:moveTo>
                  <a:pt x="19830" y="0"/>
                </a:moveTo>
                <a:cubicBezTo>
                  <a:pt x="19764" y="-5"/>
                  <a:pt x="19702" y="31"/>
                  <a:pt x="19644" y="113"/>
                </a:cubicBezTo>
                <a:cubicBezTo>
                  <a:pt x="19643" y="115"/>
                  <a:pt x="19633" y="117"/>
                  <a:pt x="19631" y="119"/>
                </a:cubicBezTo>
                <a:cubicBezTo>
                  <a:pt x="19595" y="341"/>
                  <a:pt x="19685" y="812"/>
                  <a:pt x="19861" y="1255"/>
                </a:cubicBezTo>
                <a:cubicBezTo>
                  <a:pt x="20507" y="2884"/>
                  <a:pt x="20887" y="6344"/>
                  <a:pt x="20887" y="10591"/>
                </a:cubicBezTo>
                <a:cubicBezTo>
                  <a:pt x="20887" y="14908"/>
                  <a:pt x="20648" y="17224"/>
                  <a:pt x="19977" y="19424"/>
                </a:cubicBezTo>
                <a:cubicBezTo>
                  <a:pt x="19755" y="20153"/>
                  <a:pt x="19574" y="20883"/>
                  <a:pt x="19574" y="21046"/>
                </a:cubicBezTo>
                <a:cubicBezTo>
                  <a:pt x="19574" y="21140"/>
                  <a:pt x="19588" y="21204"/>
                  <a:pt x="19605" y="21253"/>
                </a:cubicBezTo>
                <a:cubicBezTo>
                  <a:pt x="19618" y="21253"/>
                  <a:pt x="19643" y="21241"/>
                  <a:pt x="19654" y="21242"/>
                </a:cubicBezTo>
                <a:cubicBezTo>
                  <a:pt x="19750" y="21247"/>
                  <a:pt x="19819" y="21220"/>
                  <a:pt x="19887" y="21188"/>
                </a:cubicBezTo>
                <a:cubicBezTo>
                  <a:pt x="20011" y="21044"/>
                  <a:pt x="20152" y="20815"/>
                  <a:pt x="20293" y="20460"/>
                </a:cubicBezTo>
                <a:cubicBezTo>
                  <a:pt x="21129" y="18352"/>
                  <a:pt x="21591" y="14169"/>
                  <a:pt x="21580" y="10159"/>
                </a:cubicBezTo>
                <a:cubicBezTo>
                  <a:pt x="21574" y="7753"/>
                  <a:pt x="21397" y="5406"/>
                  <a:pt x="21030" y="3606"/>
                </a:cubicBezTo>
                <a:cubicBezTo>
                  <a:pt x="20659" y="1791"/>
                  <a:pt x="20242" y="483"/>
                  <a:pt x="19941" y="71"/>
                </a:cubicBezTo>
                <a:cubicBezTo>
                  <a:pt x="19904" y="45"/>
                  <a:pt x="19866" y="3"/>
                  <a:pt x="19830" y="0"/>
                </a:cubicBezTo>
                <a:close/>
                <a:moveTo>
                  <a:pt x="1735" y="18"/>
                </a:moveTo>
                <a:cubicBezTo>
                  <a:pt x="1626" y="45"/>
                  <a:pt x="1482" y="178"/>
                  <a:pt x="1332" y="480"/>
                </a:cubicBezTo>
                <a:cubicBezTo>
                  <a:pt x="1288" y="568"/>
                  <a:pt x="1250" y="693"/>
                  <a:pt x="1207" y="794"/>
                </a:cubicBezTo>
                <a:cubicBezTo>
                  <a:pt x="365" y="3382"/>
                  <a:pt x="9" y="6180"/>
                  <a:pt x="0" y="10355"/>
                </a:cubicBezTo>
                <a:cubicBezTo>
                  <a:pt x="-9" y="15042"/>
                  <a:pt x="294" y="17616"/>
                  <a:pt x="1122" y="19862"/>
                </a:cubicBezTo>
                <a:cubicBezTo>
                  <a:pt x="1383" y="20571"/>
                  <a:pt x="1665" y="21034"/>
                  <a:pt x="1815" y="21046"/>
                </a:cubicBezTo>
                <a:cubicBezTo>
                  <a:pt x="1854" y="21024"/>
                  <a:pt x="1883" y="20991"/>
                  <a:pt x="1893" y="20957"/>
                </a:cubicBezTo>
                <a:cubicBezTo>
                  <a:pt x="1894" y="20952"/>
                  <a:pt x="1915" y="20950"/>
                  <a:pt x="1918" y="20946"/>
                </a:cubicBezTo>
                <a:cubicBezTo>
                  <a:pt x="1988" y="20729"/>
                  <a:pt x="1935" y="20338"/>
                  <a:pt x="1763" y="19904"/>
                </a:cubicBezTo>
                <a:cubicBezTo>
                  <a:pt x="1137" y="18324"/>
                  <a:pt x="830" y="16099"/>
                  <a:pt x="740" y="12729"/>
                </a:cubicBezTo>
                <a:cubicBezTo>
                  <a:pt x="653" y="12807"/>
                  <a:pt x="639" y="12709"/>
                  <a:pt x="605" y="12296"/>
                </a:cubicBezTo>
                <a:cubicBezTo>
                  <a:pt x="535" y="11445"/>
                  <a:pt x="589" y="10681"/>
                  <a:pt x="706" y="10704"/>
                </a:cubicBezTo>
                <a:cubicBezTo>
                  <a:pt x="706" y="10577"/>
                  <a:pt x="698" y="10484"/>
                  <a:pt x="698" y="10355"/>
                </a:cubicBezTo>
                <a:cubicBezTo>
                  <a:pt x="709" y="5888"/>
                  <a:pt x="922" y="3816"/>
                  <a:pt x="1618" y="1480"/>
                </a:cubicBezTo>
                <a:cubicBezTo>
                  <a:pt x="1615" y="1477"/>
                  <a:pt x="1580" y="1485"/>
                  <a:pt x="1580" y="1480"/>
                </a:cubicBezTo>
                <a:cubicBezTo>
                  <a:pt x="1580" y="1439"/>
                  <a:pt x="1659" y="1227"/>
                  <a:pt x="1743" y="1019"/>
                </a:cubicBezTo>
                <a:cubicBezTo>
                  <a:pt x="1870" y="490"/>
                  <a:pt x="1843" y="124"/>
                  <a:pt x="1735" y="18"/>
                </a:cubicBezTo>
                <a:close/>
                <a:moveTo>
                  <a:pt x="10131" y="5358"/>
                </a:moveTo>
                <a:cubicBezTo>
                  <a:pt x="7930" y="5358"/>
                  <a:pt x="7857" y="5547"/>
                  <a:pt x="8859" y="8573"/>
                </a:cubicBezTo>
                <a:cubicBezTo>
                  <a:pt x="9217" y="9652"/>
                  <a:pt x="9508" y="10742"/>
                  <a:pt x="9508" y="11000"/>
                </a:cubicBezTo>
                <a:cubicBezTo>
                  <a:pt x="9508" y="11258"/>
                  <a:pt x="9212" y="12240"/>
                  <a:pt x="8851" y="13178"/>
                </a:cubicBezTo>
                <a:cubicBezTo>
                  <a:pt x="8490" y="14117"/>
                  <a:pt x="8195" y="15089"/>
                  <a:pt x="8195" y="15339"/>
                </a:cubicBezTo>
                <a:cubicBezTo>
                  <a:pt x="8195" y="15589"/>
                  <a:pt x="8662" y="15859"/>
                  <a:pt x="9234" y="15943"/>
                </a:cubicBezTo>
                <a:lnTo>
                  <a:pt x="10273" y="16097"/>
                </a:lnTo>
                <a:lnTo>
                  <a:pt x="10201" y="17843"/>
                </a:lnTo>
                <a:cubicBezTo>
                  <a:pt x="10160" y="18805"/>
                  <a:pt x="10035" y="19840"/>
                  <a:pt x="9927" y="20140"/>
                </a:cubicBezTo>
                <a:cubicBezTo>
                  <a:pt x="9819" y="20440"/>
                  <a:pt x="9796" y="20836"/>
                  <a:pt x="9875" y="21017"/>
                </a:cubicBezTo>
                <a:cubicBezTo>
                  <a:pt x="10129" y="21595"/>
                  <a:pt x="10393" y="21365"/>
                  <a:pt x="10519" y="20466"/>
                </a:cubicBezTo>
                <a:cubicBezTo>
                  <a:pt x="10586" y="19985"/>
                  <a:pt x="10723" y="19145"/>
                  <a:pt x="10821" y="18595"/>
                </a:cubicBezTo>
                <a:cubicBezTo>
                  <a:pt x="10920" y="18046"/>
                  <a:pt x="11054" y="17199"/>
                  <a:pt x="11121" y="16719"/>
                </a:cubicBezTo>
                <a:cubicBezTo>
                  <a:pt x="11188" y="16238"/>
                  <a:pt x="11435" y="15848"/>
                  <a:pt x="11667" y="15848"/>
                </a:cubicBezTo>
                <a:cubicBezTo>
                  <a:pt x="12085" y="15848"/>
                  <a:pt x="12352" y="14945"/>
                  <a:pt x="12352" y="13534"/>
                </a:cubicBezTo>
                <a:cubicBezTo>
                  <a:pt x="12352" y="12897"/>
                  <a:pt x="12286" y="12903"/>
                  <a:pt x="11866" y="13575"/>
                </a:cubicBezTo>
                <a:cubicBezTo>
                  <a:pt x="11351" y="14398"/>
                  <a:pt x="9616" y="14646"/>
                  <a:pt x="9420" y="13924"/>
                </a:cubicBezTo>
                <a:cubicBezTo>
                  <a:pt x="9357" y="13690"/>
                  <a:pt x="9547" y="12975"/>
                  <a:pt x="9844" y="12338"/>
                </a:cubicBezTo>
                <a:cubicBezTo>
                  <a:pt x="10515" y="10899"/>
                  <a:pt x="10515" y="10590"/>
                  <a:pt x="9847" y="8590"/>
                </a:cubicBezTo>
                <a:cubicBezTo>
                  <a:pt x="9551" y="7706"/>
                  <a:pt x="9371" y="6838"/>
                  <a:pt x="9446" y="6666"/>
                </a:cubicBezTo>
                <a:cubicBezTo>
                  <a:pt x="9696" y="6095"/>
                  <a:pt x="10921" y="6355"/>
                  <a:pt x="11555" y="7110"/>
                </a:cubicBezTo>
                <a:cubicBezTo>
                  <a:pt x="12433" y="8156"/>
                  <a:pt x="12600" y="8046"/>
                  <a:pt x="12313" y="6607"/>
                </a:cubicBezTo>
                <a:cubicBezTo>
                  <a:pt x="12074" y="5412"/>
                  <a:pt x="11982" y="5358"/>
                  <a:pt x="10131" y="5358"/>
                </a:cubicBezTo>
                <a:close/>
                <a:moveTo>
                  <a:pt x="13848" y="8863"/>
                </a:moveTo>
                <a:cubicBezTo>
                  <a:pt x="13526" y="8881"/>
                  <a:pt x="13215" y="9009"/>
                  <a:pt x="13158" y="9230"/>
                </a:cubicBezTo>
                <a:cubicBezTo>
                  <a:pt x="13105" y="9436"/>
                  <a:pt x="13109" y="10332"/>
                  <a:pt x="13168" y="11219"/>
                </a:cubicBezTo>
                <a:cubicBezTo>
                  <a:pt x="13253" y="12490"/>
                  <a:pt x="13370" y="12796"/>
                  <a:pt x="13717" y="12675"/>
                </a:cubicBezTo>
                <a:cubicBezTo>
                  <a:pt x="14150" y="12524"/>
                  <a:pt x="14848" y="9722"/>
                  <a:pt x="14595" y="9147"/>
                </a:cubicBezTo>
                <a:cubicBezTo>
                  <a:pt x="14503" y="8935"/>
                  <a:pt x="14170" y="8844"/>
                  <a:pt x="13848" y="8863"/>
                </a:cubicBezTo>
                <a:close/>
                <a:moveTo>
                  <a:pt x="16790" y="8875"/>
                </a:moveTo>
                <a:cubicBezTo>
                  <a:pt x="16203" y="8902"/>
                  <a:pt x="15174" y="11039"/>
                  <a:pt x="15097" y="12397"/>
                </a:cubicBezTo>
                <a:cubicBezTo>
                  <a:pt x="15059" y="13058"/>
                  <a:pt x="14957" y="13994"/>
                  <a:pt x="14869" y="14475"/>
                </a:cubicBezTo>
                <a:cubicBezTo>
                  <a:pt x="14763" y="15061"/>
                  <a:pt x="14813" y="15351"/>
                  <a:pt x="15017" y="15351"/>
                </a:cubicBezTo>
                <a:cubicBezTo>
                  <a:pt x="15184" y="15351"/>
                  <a:pt x="15422" y="14733"/>
                  <a:pt x="15547" y="13978"/>
                </a:cubicBezTo>
                <a:cubicBezTo>
                  <a:pt x="15749" y="12752"/>
                  <a:pt x="15877" y="12607"/>
                  <a:pt x="16733" y="12657"/>
                </a:cubicBezTo>
                <a:cubicBezTo>
                  <a:pt x="17735" y="12717"/>
                  <a:pt x="18044" y="13394"/>
                  <a:pt x="17610" y="14587"/>
                </a:cubicBezTo>
                <a:cubicBezTo>
                  <a:pt x="17396" y="15175"/>
                  <a:pt x="17502" y="15277"/>
                  <a:pt x="18271" y="15197"/>
                </a:cubicBezTo>
                <a:cubicBezTo>
                  <a:pt x="18932" y="15128"/>
                  <a:pt x="19278" y="14806"/>
                  <a:pt x="19497" y="14055"/>
                </a:cubicBezTo>
                <a:cubicBezTo>
                  <a:pt x="19770" y="13113"/>
                  <a:pt x="19742" y="12871"/>
                  <a:pt x="19212" y="11663"/>
                </a:cubicBezTo>
                <a:cubicBezTo>
                  <a:pt x="18808" y="10740"/>
                  <a:pt x="18553" y="10486"/>
                  <a:pt x="18398" y="10840"/>
                </a:cubicBezTo>
                <a:cubicBezTo>
                  <a:pt x="18015" y="11713"/>
                  <a:pt x="17605" y="11414"/>
                  <a:pt x="17387" y="10106"/>
                </a:cubicBezTo>
                <a:cubicBezTo>
                  <a:pt x="17271" y="9407"/>
                  <a:pt x="17007" y="8865"/>
                  <a:pt x="16790" y="8875"/>
                </a:cubicBezTo>
                <a:close/>
                <a:moveTo>
                  <a:pt x="2896" y="8981"/>
                </a:moveTo>
                <a:cubicBezTo>
                  <a:pt x="2681" y="8932"/>
                  <a:pt x="2415" y="9136"/>
                  <a:pt x="2205" y="9615"/>
                </a:cubicBezTo>
                <a:cubicBezTo>
                  <a:pt x="1641" y="10903"/>
                  <a:pt x="1770" y="12188"/>
                  <a:pt x="2523" y="12788"/>
                </a:cubicBezTo>
                <a:cubicBezTo>
                  <a:pt x="3062" y="13216"/>
                  <a:pt x="3168" y="13523"/>
                  <a:pt x="3056" y="14333"/>
                </a:cubicBezTo>
                <a:cubicBezTo>
                  <a:pt x="2845" y="15850"/>
                  <a:pt x="3717" y="15664"/>
                  <a:pt x="4167" y="14096"/>
                </a:cubicBezTo>
                <a:cubicBezTo>
                  <a:pt x="4455" y="13092"/>
                  <a:pt x="4474" y="12702"/>
                  <a:pt x="4258" y="12107"/>
                </a:cubicBezTo>
                <a:cubicBezTo>
                  <a:pt x="4110" y="11699"/>
                  <a:pt x="3909" y="11477"/>
                  <a:pt x="3811" y="11616"/>
                </a:cubicBezTo>
                <a:cubicBezTo>
                  <a:pt x="3596" y="11918"/>
                  <a:pt x="3286" y="10899"/>
                  <a:pt x="3278" y="9863"/>
                </a:cubicBezTo>
                <a:cubicBezTo>
                  <a:pt x="3274" y="9336"/>
                  <a:pt x="3110" y="9031"/>
                  <a:pt x="2896" y="8981"/>
                </a:cubicBezTo>
                <a:close/>
                <a:moveTo>
                  <a:pt x="6367" y="9851"/>
                </a:moveTo>
                <a:cubicBezTo>
                  <a:pt x="5413" y="9851"/>
                  <a:pt x="4980" y="10342"/>
                  <a:pt x="5294" y="11059"/>
                </a:cubicBezTo>
                <a:cubicBezTo>
                  <a:pt x="5544" y="11628"/>
                  <a:pt x="7170" y="11149"/>
                  <a:pt x="7267" y="10479"/>
                </a:cubicBezTo>
                <a:cubicBezTo>
                  <a:pt x="7330" y="10041"/>
                  <a:pt x="7061" y="9851"/>
                  <a:pt x="6367" y="9851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217" name="Handle the Constraints in Pricing Problem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Handle the Constraints in Pricing Problem</a:t>
            </a:r>
          </a:p>
        </p:txBody>
      </p:sp>
      <p:pic>
        <p:nvPicPr>
          <p:cNvPr id="218" name="code.png" descr="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97" y="6225419"/>
            <a:ext cx="9545342" cy="6069594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Base, duty time, negative reduced cost"/>
          <p:cNvSpPr txBox="1"/>
          <p:nvPr/>
        </p:nvSpPr>
        <p:spPr>
          <a:xfrm>
            <a:off x="1676243" y="5115888"/>
            <a:ext cx="8014049" cy="63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Base, duty time, negative reduced cost</a:t>
            </a:r>
          </a:p>
        </p:txBody>
      </p:sp>
      <p:sp>
        <p:nvSpPr>
          <p:cNvPr id="220" name="F1.To() == F2.From(), turnaround time"/>
          <p:cNvSpPr txBox="1"/>
          <p:nvPr/>
        </p:nvSpPr>
        <p:spPr>
          <a:xfrm>
            <a:off x="13717427" y="5115888"/>
            <a:ext cx="7719505" cy="63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F1.To() == F2.From(), turnaround time</a:t>
            </a:r>
          </a:p>
        </p:txBody>
      </p:sp>
      <p:pic>
        <p:nvPicPr>
          <p:cNvPr id="221" name="code.png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3017" y="6199891"/>
            <a:ext cx="12188325" cy="54392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224" name="Column Generation Loop (Crew Scheduling)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Column Generation Loop (Crew Scheduling)</a:t>
            </a:r>
          </a:p>
        </p:txBody>
      </p:sp>
      <p:sp>
        <p:nvSpPr>
          <p:cNvPr id="225" name="1.  Solve RMP…"/>
          <p:cNvSpPr txBox="1">
            <a:spLocks noGrp="1"/>
          </p:cNvSpPr>
          <p:nvPr>
            <p:ph type="body" sz="half" idx="4294967295"/>
          </p:nvPr>
        </p:nvSpPr>
        <p:spPr>
          <a:xfrm>
            <a:off x="2813513" y="3762897"/>
            <a:ext cx="10975031" cy="6643835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2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 sz="3400" b="0"/>
          </a:p>
          <a:p>
            <a:pPr marL="330200" indent="-3302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228600" algn="r"/>
                <a:tab pos="3302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1.	 Solve RMP</a:t>
            </a:r>
          </a:p>
          <a:p>
            <a:pPr marL="330200" indent="-3302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228600" algn="r"/>
                <a:tab pos="3302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2.	 Get flight dual prices</a:t>
            </a:r>
          </a:p>
          <a:p>
            <a:pPr marL="330200" indent="-3302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228600" algn="r"/>
                <a:tab pos="3302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3.	 Solve shortest path problem</a:t>
            </a:r>
          </a:p>
          <a:p>
            <a:pPr marL="330200" indent="-3302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228600" algn="r"/>
                <a:tab pos="3302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4.	 Generate new pairing</a:t>
            </a:r>
          </a:p>
          <a:p>
            <a:pPr marL="330200" indent="-3302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228600" algn="r"/>
                <a:tab pos="3302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5.	 Add to RMP</a:t>
            </a:r>
          </a:p>
          <a:p>
            <a:pPr marL="330200" indent="-3302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228600" algn="r"/>
                <a:tab pos="3302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6.	 Repeat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228" name="Termination"/>
          <p:cNvSpPr txBox="1">
            <a:spLocks noGrp="1"/>
          </p:cNvSpPr>
          <p:nvPr>
            <p:ph type="title" idx="4294967295"/>
          </p:nvPr>
        </p:nvSpPr>
        <p:spPr>
          <a:xfrm>
            <a:off x="1689100" y="1193800"/>
            <a:ext cx="21005800" cy="2286000"/>
          </a:xfrm>
          <a:prstGeom prst="rect">
            <a:avLst/>
          </a:prstGeom>
        </p:spPr>
        <p:txBody>
          <a:bodyPr/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8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Termination</a:t>
            </a:r>
          </a:p>
        </p:txBody>
      </p:sp>
      <p:sp>
        <p:nvSpPr>
          <p:cNvPr id="229" name="• When no pairing has negative reduced cost…"/>
          <p:cNvSpPr txBox="1">
            <a:spLocks noGrp="1"/>
          </p:cNvSpPr>
          <p:nvPr>
            <p:ph type="body" sz="quarter" idx="4294967295"/>
          </p:nvPr>
        </p:nvSpPr>
        <p:spPr>
          <a:xfrm>
            <a:off x="2038803" y="4067637"/>
            <a:ext cx="10975031" cy="3627609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200" b="1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endParaRPr sz="3400" b="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When no pairing has negative reduced cost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pPr>
            <a:r>
              <a:t>	•	RMP solution is LP-optimal</a:t>
            </a:r>
          </a:p>
        </p:txBody>
      </p:sp>
      <p:sp>
        <p:nvSpPr>
          <p:cNvPr id="230" name="Final Output"/>
          <p:cNvSpPr txBox="1"/>
          <p:nvPr/>
        </p:nvSpPr>
        <p:spPr>
          <a:xfrm>
            <a:off x="15504132" y="3857185"/>
            <a:ext cx="5936615" cy="985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3400"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Final Output</a:t>
            </a:r>
          </a:p>
        </p:txBody>
      </p:sp>
      <p:pic>
        <p:nvPicPr>
          <p:cNvPr id="231" name="Screenshot 2026-01-15 at 8.16.13 AM.png" descr="Screenshot 2026-01-15 at 8.16.13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6337" y="4822857"/>
            <a:ext cx="9107797" cy="72527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234" name="Thank you"/>
          <p:cNvSpPr txBox="1">
            <a:spLocks noGrp="1"/>
          </p:cNvSpPr>
          <p:nvPr>
            <p:ph type="title" idx="4294967295"/>
          </p:nvPr>
        </p:nvSpPr>
        <p:spPr>
          <a:xfrm>
            <a:off x="1689100" y="5715000"/>
            <a:ext cx="21005800" cy="2286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alayalam MN"/>
                <a:ea typeface="Malayalam MN"/>
                <a:cs typeface="Malayalam MN"/>
                <a:sym typeface="Malayalam MN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</Words>
  <Application>Microsoft Macintosh PowerPoint</Application>
  <PresentationFormat>Custom</PresentationFormat>
  <Paragraphs>154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Helvetica Neue</vt:lpstr>
      <vt:lpstr>Helvetica Neue Light</vt:lpstr>
      <vt:lpstr>Helvetica Neue Medium</vt:lpstr>
      <vt:lpstr>White</vt:lpstr>
      <vt:lpstr>Column Generation Algorithm: Optimizing Large-Scale LP &amp; IP Problems A  term Presentation for Crew Scheduling Problem</vt:lpstr>
      <vt:lpstr>Technologies Used </vt:lpstr>
      <vt:lpstr>Project Overview: Column Generation Algorithm For Large-Scale LP &amp; IP Problems</vt:lpstr>
      <vt:lpstr>Project Overview: Column Generation Algorithm For Large-Scale LP &amp; IP Problems</vt:lpstr>
      <vt:lpstr> Column Generation Algorithm Steps</vt:lpstr>
      <vt:lpstr>Crew Scheduling Problem (Overview)</vt:lpstr>
      <vt:lpstr>Why Crew Scheduling Is Hard</vt:lpstr>
      <vt:lpstr>Standard Linear Programming Form</vt:lpstr>
      <vt:lpstr>Mathematical Model (Master Problem)</vt:lpstr>
      <vt:lpstr>Step:1 Restricted Master Problem (RMP)</vt:lpstr>
      <vt:lpstr>Restricted Master Problem in Crew Scheduling</vt:lpstr>
      <vt:lpstr>Dual Variables (Shadow Prices)</vt:lpstr>
      <vt:lpstr>Reduced Cost</vt:lpstr>
      <vt:lpstr> Step:2 Pricing Problem(Sub Problem)</vt:lpstr>
      <vt:lpstr>Pricing Problem in Crew Scheduling</vt:lpstr>
      <vt:lpstr>Handle the Constraints in Pricing Problem</vt:lpstr>
      <vt:lpstr>Column Generation Loop (Crew Scheduling)</vt:lpstr>
      <vt:lpstr>Termination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Md Inzamamul Lohani</cp:lastModifiedBy>
  <cp:revision>1</cp:revision>
  <dcterms:modified xsi:type="dcterms:W3CDTF">2026-01-15T04:30:29Z</dcterms:modified>
</cp:coreProperties>
</file>