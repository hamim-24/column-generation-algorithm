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 algn="l">
              <a:defRPr sz="84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2000"/>
              </a:spcBef>
              <a:defRPr sz="3800"/>
            </a:lvl1pPr>
            <a:lvl2pPr marL="1117600" indent="-558800">
              <a:spcBef>
                <a:spcPts val="2000"/>
              </a:spcBef>
              <a:defRPr sz="3800"/>
            </a:lvl2pPr>
            <a:lvl3pPr marL="1676400" indent="-558800">
              <a:spcBef>
                <a:spcPts val="2000"/>
              </a:spcBef>
              <a:defRPr sz="3800"/>
            </a:lvl3pPr>
            <a:lvl4pPr marL="2235200" indent="-558800">
              <a:spcBef>
                <a:spcPts val="2000"/>
              </a:spcBef>
              <a:defRPr sz="3800"/>
            </a:lvl4pPr>
            <a:lvl5pPr marL="2794000" indent="-558800">
              <a:spcBef>
                <a:spcPts val="20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2000"/>
              </a:spcBef>
              <a:defRPr sz="3800"/>
            </a:lvl1pPr>
            <a:lvl2pPr marL="1117600" indent="-558800">
              <a:spcBef>
                <a:spcPts val="2000"/>
              </a:spcBef>
              <a:defRPr sz="3800"/>
            </a:lvl2pPr>
            <a:lvl3pPr marL="1676400" indent="-558800">
              <a:spcBef>
                <a:spcPts val="2000"/>
              </a:spcBef>
              <a:defRPr sz="3800"/>
            </a:lvl3pPr>
            <a:lvl4pPr marL="2235200" indent="-558800">
              <a:spcBef>
                <a:spcPts val="2000"/>
              </a:spcBef>
              <a:defRPr sz="3800"/>
            </a:lvl4pPr>
            <a:lvl5pPr marL="2794000" indent="-558800">
              <a:spcBef>
                <a:spcPts val="20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2000"/>
              </a:spcBef>
              <a:defRPr sz="3800"/>
            </a:lvl1pPr>
            <a:lvl2pPr marL="1117600" indent="-558800">
              <a:spcBef>
                <a:spcPts val="2000"/>
              </a:spcBef>
              <a:defRPr sz="3800"/>
            </a:lvl2pPr>
            <a:lvl3pPr marL="1676400" indent="-558800">
              <a:spcBef>
                <a:spcPts val="2000"/>
              </a:spcBef>
              <a:defRPr sz="3800"/>
            </a:lvl3pPr>
            <a:lvl4pPr marL="2235200" indent="-558800">
              <a:spcBef>
                <a:spcPts val="2000"/>
              </a:spcBef>
              <a:defRPr sz="3800"/>
            </a:lvl4pPr>
            <a:lvl5pPr marL="2794000" indent="-558800">
              <a:spcBef>
                <a:spcPts val="20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olumn Generation Algorithm:…"/>
          <p:cNvSpPr txBox="1"/>
          <p:nvPr>
            <p:ph type="ctrTitle"/>
          </p:nvPr>
        </p:nvSpPr>
        <p:spPr>
          <a:xfrm>
            <a:off x="1777999" y="477877"/>
            <a:ext cx="20828001" cy="4648201"/>
          </a:xfrm>
          <a:prstGeom prst="rect">
            <a:avLst/>
          </a:prstGeom>
        </p:spPr>
        <p:txBody>
          <a:bodyPr/>
          <a:lstStyle/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700">
                <a:solidFill>
                  <a:schemeClr val="accent1">
                    <a:lumOff val="-1357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Column Generation Algorithm:</a:t>
            </a: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700">
                <a:latin typeface="Arial Hebrew"/>
                <a:ea typeface="Arial Hebrew"/>
                <a:cs typeface="Arial Hebrew"/>
                <a:sym typeface="Arial Hebrew"/>
              </a:defRPr>
            </a:pPr>
            <a:r>
              <a:t>Optimizing Large-Scale LP &amp; IP Problems (</a:t>
            </a:r>
            <a:r>
              <a:rPr b="1"/>
              <a:t>CSP</a:t>
            </a:r>
            <a:r>
              <a:t> &amp; </a:t>
            </a:r>
            <a:r>
              <a:rPr b="1"/>
              <a:t>VRP</a:t>
            </a:r>
            <a:r>
              <a:t>)</a:t>
            </a:r>
          </a:p>
        </p:txBody>
      </p:sp>
      <p:sp>
        <p:nvSpPr>
          <p:cNvPr id="138" name="Presented by: Md. Inzamamul Lohani…"/>
          <p:cNvSpPr txBox="1"/>
          <p:nvPr>
            <p:ph type="subTitle" sz="quarter" idx="1"/>
          </p:nvPr>
        </p:nvSpPr>
        <p:spPr>
          <a:xfrm>
            <a:off x="1778000" y="7073899"/>
            <a:ext cx="9995458" cy="1587501"/>
          </a:xfrm>
          <a:prstGeom prst="rect">
            <a:avLst/>
          </a:prstGeom>
        </p:spPr>
        <p:txBody>
          <a:bodyPr/>
          <a:lstStyle/>
          <a:p>
            <a:pPr algn="l" defTabSz="594360">
              <a:spcBef>
                <a:spcPts val="700"/>
              </a:spcBef>
              <a:defRPr sz="2880"/>
            </a:pPr>
            <a:r>
              <a:t>Presented by: Md. Inzamamul Lohani</a:t>
            </a:r>
          </a:p>
          <a:p>
            <a:pPr algn="l" defTabSz="594360">
              <a:spcBef>
                <a:spcPts val="700"/>
              </a:spcBef>
              <a:defRPr sz="2880"/>
            </a:pPr>
            <a:r>
              <a:t>Institute of Information Technology (IIT),</a:t>
            </a:r>
          </a:p>
          <a:p>
            <a:pPr algn="l" defTabSz="594360">
              <a:spcBef>
                <a:spcPts val="700"/>
              </a:spcBef>
              <a:defRPr sz="2880"/>
            </a:pPr>
            <a:r>
              <a:t>University of Dhaka</a:t>
            </a:r>
          </a:p>
        </p:txBody>
      </p:sp>
      <p:sp>
        <p:nvSpPr>
          <p:cNvPr id="139" name="Supervisor: Shah Mostafa Khaled, Ph.D.…"/>
          <p:cNvSpPr txBox="1"/>
          <p:nvPr/>
        </p:nvSpPr>
        <p:spPr>
          <a:xfrm>
            <a:off x="13186588" y="7073900"/>
            <a:ext cx="9995459" cy="158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627379">
              <a:spcBef>
                <a:spcPts val="700"/>
              </a:spcBef>
              <a:defRPr sz="2888"/>
            </a:pPr>
            <a:r>
              <a:t>Supervisor: Shah Mostafa Khaled, Ph.D.</a:t>
            </a:r>
          </a:p>
          <a:p>
            <a:pPr defTabSz="627379">
              <a:spcBef>
                <a:spcPts val="700"/>
              </a:spcBef>
              <a:defRPr sz="2888"/>
            </a:pPr>
            <a:r>
              <a:t>Institute of Information Technology (IIT),</a:t>
            </a:r>
          </a:p>
          <a:p>
            <a:pPr defTabSz="627379">
              <a:spcBef>
                <a:spcPts val="700"/>
              </a:spcBef>
              <a:defRPr sz="2888"/>
            </a:pPr>
            <a:r>
              <a:t>University of Dhaka</a:t>
            </a:r>
          </a:p>
        </p:txBody>
      </p:sp>
      <p:sp>
        <p:nvSpPr>
          <p:cNvPr id="140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chnologies Used"/>
          <p:cNvSpPr txBox="1"/>
          <p:nvPr>
            <p:ph type="ctrTitle"/>
          </p:nvPr>
        </p:nvSpPr>
        <p:spPr>
          <a:xfrm>
            <a:off x="1778000" y="1342328"/>
            <a:ext cx="20828001" cy="1587501"/>
          </a:xfrm>
          <a:prstGeom prst="rect">
            <a:avLst/>
          </a:prstGeom>
        </p:spPr>
        <p:txBody>
          <a:bodyPr/>
          <a:lstStyle>
            <a:lvl1pPr algn="l">
              <a:defRPr sz="84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Technologies Used</a:t>
            </a:r>
          </a:p>
        </p:txBody>
      </p:sp>
      <p:sp>
        <p:nvSpPr>
          <p:cNvPr id="143" name="Programming Language: JAVA…"/>
          <p:cNvSpPr txBox="1"/>
          <p:nvPr>
            <p:ph type="subTitle" sz="half" idx="1"/>
          </p:nvPr>
        </p:nvSpPr>
        <p:spPr>
          <a:xfrm>
            <a:off x="1777999" y="4427431"/>
            <a:ext cx="20828001" cy="6073563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2000"/>
              </a:spcBef>
              <a:defRPr sz="3800"/>
            </a:pPr>
            <a:r>
              <a:rPr b="1"/>
              <a:t>Programming</a:t>
            </a:r>
            <a:r>
              <a:t> </a:t>
            </a:r>
            <a:r>
              <a:rPr b="1"/>
              <a:t>Language</a:t>
            </a:r>
            <a:r>
              <a:t>: JAVA</a:t>
            </a:r>
          </a:p>
          <a:p>
            <a:pPr algn="l">
              <a:spcBef>
                <a:spcPts val="2000"/>
              </a:spcBef>
              <a:defRPr sz="3800"/>
            </a:pPr>
            <a:r>
              <a:rPr b="1"/>
              <a:t>Libraries</a:t>
            </a:r>
            <a:r>
              <a:t>: IBM CPLEX Optimization Studio</a:t>
            </a:r>
          </a:p>
          <a:p>
            <a:pPr algn="l">
              <a:spcBef>
                <a:spcPts val="2000"/>
              </a:spcBef>
              <a:defRPr sz="3800"/>
            </a:pPr>
            <a:r>
              <a:rPr b="1"/>
              <a:t>Tools</a:t>
            </a:r>
            <a:r>
              <a:t>: Git, VS Code</a:t>
            </a:r>
          </a:p>
          <a:p>
            <a:pPr algn="l">
              <a:spcBef>
                <a:spcPts val="2000"/>
              </a:spcBef>
              <a:defRPr sz="3800"/>
            </a:pPr>
            <a:r>
              <a:rPr b="1"/>
              <a:t>Platform</a:t>
            </a:r>
            <a:r>
              <a:t>: macOS</a:t>
            </a:r>
          </a:p>
          <a:p>
            <a:pPr algn="l">
              <a:spcBef>
                <a:spcPts val="2000"/>
              </a:spcBef>
              <a:defRPr sz="3800"/>
            </a:pPr>
            <a:r>
              <a:rPr b="1"/>
              <a:t>LOC</a:t>
            </a:r>
            <a:r>
              <a:t>: 12</a:t>
            </a:r>
            <a:r>
              <a:t>50+</a:t>
            </a:r>
          </a:p>
        </p:txBody>
      </p:sp>
      <p:sp>
        <p:nvSpPr>
          <p:cNvPr id="144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olumn Generation Algorithm"/>
          <p:cNvSpPr txBox="1"/>
          <p:nvPr>
            <p:ph type="ctrTitle"/>
          </p:nvPr>
        </p:nvSpPr>
        <p:spPr>
          <a:xfrm>
            <a:off x="1777999" y="1361099"/>
            <a:ext cx="20828001" cy="1587501"/>
          </a:xfrm>
          <a:prstGeom prst="rect">
            <a:avLst/>
          </a:prstGeom>
        </p:spPr>
        <p:txBody>
          <a:bodyPr/>
          <a:lstStyle>
            <a:lvl1pPr algn="l">
              <a:defRPr sz="84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Column Generation Algorithm</a:t>
            </a:r>
          </a:p>
        </p:txBody>
      </p:sp>
      <p:sp>
        <p:nvSpPr>
          <p:cNvPr id="147" name="CGA Decomposition:…"/>
          <p:cNvSpPr txBox="1"/>
          <p:nvPr>
            <p:ph type="subTitle" sz="half" idx="1"/>
          </p:nvPr>
        </p:nvSpPr>
        <p:spPr>
          <a:xfrm>
            <a:off x="1777999" y="4309567"/>
            <a:ext cx="20828001" cy="5960349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2000"/>
              </a:spcBef>
              <a:defRPr sz="3800"/>
            </a:pPr>
            <a:r>
              <a:t>CGA Decomposition:</a:t>
            </a:r>
          </a:p>
          <a:p>
            <a:pPr lvl="1" indent="457200" algn="l">
              <a:spcBef>
                <a:spcPts val="2000"/>
              </a:spcBef>
              <a:defRPr sz="3800"/>
            </a:pPr>
            <a:r>
              <a:t>- Decomposition technique for large-scale LPs</a:t>
            </a:r>
          </a:p>
          <a:p>
            <a:pPr lvl="1" indent="457200" algn="l">
              <a:spcBef>
                <a:spcPts val="2000"/>
              </a:spcBef>
              <a:defRPr sz="3800"/>
            </a:pPr>
            <a:r>
              <a:t>- It generates variables </a:t>
            </a:r>
            <a:r>
              <a:rPr b="1"/>
              <a:t>only when needed</a:t>
            </a:r>
            <a:endParaRPr b="1"/>
          </a:p>
          <a:p>
            <a:pPr lvl="1" indent="457200" algn="l">
              <a:spcBef>
                <a:spcPts val="2000"/>
              </a:spcBef>
              <a:defRPr sz="3800"/>
            </a:pPr>
            <a:r>
              <a:t>- Instead of solving the full problem:</a:t>
            </a:r>
          </a:p>
          <a:p>
            <a:pPr lvl="3" indent="1371600" algn="l">
              <a:spcBef>
                <a:spcPts val="2000"/>
              </a:spcBef>
              <a:defRPr sz="3800"/>
            </a:pPr>
            <a:r>
              <a:t>- </a:t>
            </a:r>
            <a:r>
              <a:rPr b="1"/>
              <a:t>Master Problem:</a:t>
            </a:r>
            <a:r>
              <a:t> Start with a small subset of variables</a:t>
            </a:r>
          </a:p>
          <a:p>
            <a:pPr lvl="3" indent="1371600" algn="l">
              <a:spcBef>
                <a:spcPts val="2000"/>
              </a:spcBef>
              <a:defRPr sz="3800"/>
            </a:pPr>
            <a:r>
              <a:t>- </a:t>
            </a:r>
            <a:r>
              <a:rPr b="1"/>
              <a:t>Sub Problem: </a:t>
            </a:r>
            <a:r>
              <a:t>Iteratively check efficiently </a:t>
            </a:r>
          </a:p>
        </p:txBody>
      </p:sp>
      <p:sp>
        <p:nvSpPr>
          <p:cNvPr id="148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olumn Generation Algorithm Steps"/>
          <p:cNvSpPr txBox="1"/>
          <p:nvPr>
            <p:ph type="ctrTitle"/>
          </p:nvPr>
        </p:nvSpPr>
        <p:spPr>
          <a:xfrm>
            <a:off x="1777999" y="1342328"/>
            <a:ext cx="20828001" cy="1587501"/>
          </a:xfrm>
          <a:prstGeom prst="rect">
            <a:avLst/>
          </a:prstGeom>
        </p:spPr>
        <p:txBody>
          <a:bodyPr/>
          <a:lstStyle>
            <a:lvl1pPr algn="l">
              <a:defRPr sz="84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Column Generation Algorithm Steps</a:t>
            </a:r>
          </a:p>
        </p:txBody>
      </p:sp>
      <p:sp>
        <p:nvSpPr>
          <p:cNvPr id="151" name="1. Initialize RMP with feasible variable…"/>
          <p:cNvSpPr txBox="1"/>
          <p:nvPr>
            <p:ph type="subTitle" sz="quarter" idx="1"/>
          </p:nvPr>
        </p:nvSpPr>
        <p:spPr>
          <a:xfrm>
            <a:off x="1777999" y="4521141"/>
            <a:ext cx="9667913" cy="5998624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2000"/>
              </a:spcBef>
              <a:defRPr sz="3800"/>
            </a:pPr>
            <a:r>
              <a:t>1. Initialize </a:t>
            </a:r>
            <a:r>
              <a:rPr b="1"/>
              <a:t>RMP</a:t>
            </a:r>
            <a:r>
              <a:t> with feasible variable </a:t>
            </a:r>
          </a:p>
          <a:p>
            <a:pPr algn="l">
              <a:spcBef>
                <a:spcPts val="2000"/>
              </a:spcBef>
              <a:defRPr sz="3800"/>
            </a:pPr>
            <a:r>
              <a:t>2. Solve </a:t>
            </a:r>
            <a:r>
              <a:rPr b="1"/>
              <a:t>RMP</a:t>
            </a:r>
            <a:endParaRPr b="1"/>
          </a:p>
          <a:p>
            <a:pPr algn="l">
              <a:spcBef>
                <a:spcPts val="2000"/>
              </a:spcBef>
              <a:defRPr sz="3800"/>
            </a:pPr>
            <a:r>
              <a:t>3. Obtain </a:t>
            </a:r>
            <a:r>
              <a:rPr b="1"/>
              <a:t>Dual</a:t>
            </a:r>
            <a:r>
              <a:t> </a:t>
            </a:r>
            <a:r>
              <a:rPr b="1"/>
              <a:t>Prices</a:t>
            </a:r>
            <a:endParaRPr b="1"/>
          </a:p>
          <a:p>
            <a:pPr algn="l">
              <a:spcBef>
                <a:spcPts val="2000"/>
              </a:spcBef>
              <a:defRPr sz="3800"/>
            </a:pPr>
            <a:r>
              <a:t>4. Solve </a:t>
            </a:r>
            <a:r>
              <a:t>Pricing Problem (</a:t>
            </a:r>
            <a:r>
              <a:rPr b="1"/>
              <a:t>subproblem</a:t>
            </a:r>
            <a:r>
              <a:t>)</a:t>
            </a:r>
          </a:p>
          <a:p>
            <a:pPr algn="l">
              <a:spcBef>
                <a:spcPts val="2000"/>
              </a:spcBef>
              <a:defRPr sz="3800"/>
            </a:pPr>
            <a:r>
              <a:t>5. Add negative </a:t>
            </a:r>
            <a:r>
              <a:rPr b="1"/>
              <a:t>Reduced Cost</a:t>
            </a:r>
            <a:r>
              <a:t> variables</a:t>
            </a:r>
          </a:p>
          <a:p>
            <a:pPr algn="l">
              <a:spcBef>
                <a:spcPts val="2000"/>
              </a:spcBef>
              <a:defRPr sz="3800"/>
            </a:pPr>
            <a:r>
              <a:t>6. Repeat until no improving variable exists</a:t>
            </a:r>
          </a:p>
        </p:txBody>
      </p:sp>
      <p:pic>
        <p:nvPicPr>
          <p:cNvPr id="152" name="Screenshot 2025-11-11 at 11.45.21 AM.png" descr="Screenshot 2025-11-11 at 11.45.2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283722" y="3682635"/>
            <a:ext cx="6786111" cy="7710778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Subproblem…"/>
          <p:cNvSpPr txBox="1"/>
          <p:nvPr/>
        </p:nvSpPr>
        <p:spPr>
          <a:xfrm>
            <a:off x="20500459" y="7925317"/>
            <a:ext cx="2410054" cy="108041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Subproblem</a:t>
            </a:r>
          </a:p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(Variables)</a:t>
            </a:r>
          </a:p>
        </p:txBody>
      </p:sp>
      <p:sp>
        <p:nvSpPr>
          <p:cNvPr id="154" name="Iterative"/>
          <p:cNvSpPr txBox="1"/>
          <p:nvPr/>
        </p:nvSpPr>
        <p:spPr>
          <a:xfrm>
            <a:off x="18178675" y="10400438"/>
            <a:ext cx="1379957" cy="49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rgbClr val="FFFFFF"/>
                </a:solidFill>
              </a:defRPr>
            </a:lvl1pPr>
          </a:lstStyle>
          <a:p>
            <a:pPr/>
            <a:r>
              <a:t>Iterative </a:t>
            </a:r>
          </a:p>
        </p:txBody>
      </p:sp>
      <p:sp>
        <p:nvSpPr>
          <p:cNvPr id="155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Mathematical Model (Master Problem)"/>
          <p:cNvSpPr txBox="1"/>
          <p:nvPr>
            <p:ph type="ctrTitle"/>
          </p:nvPr>
        </p:nvSpPr>
        <p:spPr>
          <a:xfrm>
            <a:off x="1777999" y="1154614"/>
            <a:ext cx="20828001" cy="1587501"/>
          </a:xfrm>
          <a:prstGeom prst="rect">
            <a:avLst/>
          </a:prstGeom>
        </p:spPr>
        <p:txBody>
          <a:bodyPr/>
          <a:lstStyle>
            <a:lvl1pPr algn="l">
              <a:defRPr sz="84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Mathematical Model (Master Problem)</a:t>
            </a:r>
          </a:p>
        </p:txBody>
      </p:sp>
      <p:sp>
        <p:nvSpPr>
          <p:cNvPr id="158" name="- Constraints…"/>
          <p:cNvSpPr txBox="1"/>
          <p:nvPr>
            <p:ph type="subTitle" sz="quarter" idx="1"/>
          </p:nvPr>
        </p:nvSpPr>
        <p:spPr>
          <a:xfrm>
            <a:off x="1778000" y="3979264"/>
            <a:ext cx="5638228" cy="7582166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2000"/>
              </a:spcBef>
              <a:defRPr sz="3800"/>
            </a:pPr>
            <a:r>
              <a:t>- Constraints</a:t>
            </a:r>
          </a:p>
          <a:p>
            <a:pPr algn="l">
              <a:spcBef>
                <a:spcPts val="2000"/>
              </a:spcBef>
              <a:defRPr sz="3800"/>
            </a:pPr>
          </a:p>
          <a:p>
            <a:pPr algn="l">
              <a:spcBef>
                <a:spcPts val="2000"/>
              </a:spcBef>
              <a:defRPr sz="3800"/>
            </a:pPr>
          </a:p>
          <a:p>
            <a:pPr algn="l">
              <a:spcBef>
                <a:spcPts val="2000"/>
              </a:spcBef>
              <a:defRPr sz="3800"/>
            </a:pPr>
            <a:r>
              <a:t>- Decision variable</a:t>
            </a:r>
          </a:p>
          <a:p>
            <a:pPr algn="l">
              <a:spcBef>
                <a:spcPts val="2000"/>
              </a:spcBef>
              <a:defRPr sz="3800"/>
            </a:pPr>
          </a:p>
          <a:p>
            <a:pPr algn="l">
              <a:spcBef>
                <a:spcPts val="2000"/>
              </a:spcBef>
              <a:defRPr sz="3800"/>
            </a:pPr>
          </a:p>
          <a:p>
            <a:pPr algn="l">
              <a:spcBef>
                <a:spcPts val="2000"/>
              </a:spcBef>
              <a:defRPr sz="3800"/>
            </a:pPr>
            <a:r>
              <a:t>- Objective</a:t>
            </a:r>
          </a:p>
        </p:txBody>
      </p:sp>
      <p:pic>
        <p:nvPicPr>
          <p:cNvPr id="159" name="Screenshot 2026-04-23 at 6.34.57 AM.png" descr="Screenshot 2026-04-23 at 6.34.5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32311" y="5737279"/>
            <a:ext cx="6587091" cy="2241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Screenshot 2026-04-23 at 6.35.17 AM.png" descr="Screenshot 2026-04-23 at 6.35.17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58614" y="8622413"/>
            <a:ext cx="5244941" cy="14163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Screenshot 2026-04-23 at 6.35.43 AM.png" descr="Screenshot 2026-04-23 at 6.35.43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07628" y="3665417"/>
            <a:ext cx="4257537" cy="1914766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roject Structure"/>
          <p:cNvSpPr txBox="1"/>
          <p:nvPr>
            <p:ph type="ctrTitle"/>
          </p:nvPr>
        </p:nvSpPr>
        <p:spPr>
          <a:xfrm>
            <a:off x="1778000" y="1238777"/>
            <a:ext cx="20828000" cy="1428253"/>
          </a:xfrm>
          <a:prstGeom prst="rect">
            <a:avLst/>
          </a:prstGeom>
        </p:spPr>
        <p:txBody>
          <a:bodyPr/>
          <a:lstStyle>
            <a:lvl1pPr algn="l">
              <a:defRPr sz="84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Project Structure</a:t>
            </a:r>
          </a:p>
        </p:txBody>
      </p:sp>
      <p:sp>
        <p:nvSpPr>
          <p:cNvPr id="165" name="cplex/…"/>
          <p:cNvSpPr txBox="1"/>
          <p:nvPr>
            <p:ph type="subTitle" idx="1"/>
          </p:nvPr>
        </p:nvSpPr>
        <p:spPr>
          <a:xfrm>
            <a:off x="2910551" y="3225887"/>
            <a:ext cx="18562898" cy="9296226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100"/>
              </a:spcBef>
              <a:defRPr sz="3800"/>
            </a:pPr>
            <a:r>
              <a:t>cplex/</a:t>
            </a:r>
          </a:p>
          <a:p>
            <a:pPr algn="l">
              <a:spcBef>
                <a:spcPts val="100"/>
              </a:spcBef>
              <a:defRPr sz="3800"/>
            </a:pPr>
            <a:r>
              <a:t>├── CSP/                     # Crew Scheduling Problem module</a:t>
            </a:r>
          </a:p>
          <a:p>
            <a:pPr algn="l">
              <a:spcBef>
                <a:spcPts val="100"/>
              </a:spcBef>
              <a:defRPr sz="3800"/>
            </a:pPr>
            <a:r>
              <a:t>│   ├── data/                # Input CSV files</a:t>
            </a:r>
          </a:p>
          <a:p>
            <a:pPr algn="l">
              <a:spcBef>
                <a:spcPts val="100"/>
              </a:spcBef>
              <a:defRPr sz="3800"/>
            </a:pPr>
            <a:r>
              <a:t>│   └── src/                 # Java source code</a:t>
            </a:r>
          </a:p>
          <a:p>
            <a:pPr algn="l">
              <a:spcBef>
                <a:spcPts val="100"/>
              </a:spcBef>
              <a:defRPr sz="3800"/>
            </a:pPr>
            <a:r>
              <a:t>│  </a:t>
            </a:r>
          </a:p>
          <a:p>
            <a:pPr algn="l">
              <a:spcBef>
                <a:spcPts val="100"/>
              </a:spcBef>
              <a:defRPr sz="3800"/>
            </a:pPr>
            <a:r>
              <a:t>├── VRP/                     # Vehicle Routing Problem module</a:t>
            </a:r>
          </a:p>
          <a:p>
            <a:pPr algn="l">
              <a:spcBef>
                <a:spcPts val="100"/>
              </a:spcBef>
              <a:defRPr sz="3800"/>
            </a:pPr>
            <a:r>
              <a:t>│   ├── data/                # Input CSV files</a:t>
            </a:r>
          </a:p>
          <a:p>
            <a:pPr algn="l">
              <a:spcBef>
                <a:spcPts val="100"/>
              </a:spcBef>
              <a:defRPr sz="3800"/>
            </a:pPr>
            <a:r>
              <a:t>│   └── src/                 # Java source code</a:t>
            </a:r>
          </a:p>
          <a:p>
            <a:pPr algn="l">
              <a:spcBef>
                <a:spcPts val="100"/>
              </a:spcBef>
              <a:defRPr sz="3800"/>
            </a:pPr>
            <a:r>
              <a:t>│  </a:t>
            </a:r>
          </a:p>
          <a:p>
            <a:pPr algn="l">
              <a:spcBef>
                <a:spcPts val="100"/>
              </a:spcBef>
              <a:defRPr sz="3800"/>
            </a:pPr>
            <a:r>
              <a:t>├── bin/                     # Compiled class output</a:t>
            </a:r>
          </a:p>
          <a:p>
            <a:pPr algn="l">
              <a:spcBef>
                <a:spcPts val="100"/>
              </a:spcBef>
              <a:defRPr sz="3800"/>
            </a:pPr>
            <a:r>
              <a:t>└── run.sh                   # Compile and run entry script</a:t>
            </a:r>
          </a:p>
        </p:txBody>
      </p:sp>
      <p:sp>
        <p:nvSpPr>
          <p:cNvPr id="166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roject Feature"/>
          <p:cNvSpPr txBox="1"/>
          <p:nvPr>
            <p:ph type="ctrTitle"/>
          </p:nvPr>
        </p:nvSpPr>
        <p:spPr>
          <a:xfrm>
            <a:off x="1777999" y="1060757"/>
            <a:ext cx="20828001" cy="1587501"/>
          </a:xfrm>
          <a:prstGeom prst="rect">
            <a:avLst/>
          </a:prstGeom>
        </p:spPr>
        <p:txBody>
          <a:bodyPr/>
          <a:lstStyle>
            <a:lvl1pPr algn="l">
              <a:defRPr sz="84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Project Feature </a:t>
            </a:r>
          </a:p>
        </p:txBody>
      </p:sp>
      <p:sp>
        <p:nvSpPr>
          <p:cNvPr id="169" name="1. The project demonstrates a practical implementation of column generation…"/>
          <p:cNvSpPr txBox="1"/>
          <p:nvPr>
            <p:ph type="subTitle" sz="half" idx="1"/>
          </p:nvPr>
        </p:nvSpPr>
        <p:spPr>
          <a:xfrm>
            <a:off x="1778000" y="4501490"/>
            <a:ext cx="20828001" cy="5206707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2000"/>
              </a:spcBef>
              <a:defRPr sz="3800"/>
            </a:pPr>
            <a:r>
              <a:t>1. The project demonstrates a practical implementation of column generation</a:t>
            </a:r>
          </a:p>
          <a:p>
            <a:pPr algn="l">
              <a:spcBef>
                <a:spcPts val="2000"/>
              </a:spcBef>
              <a:defRPr sz="3800"/>
            </a:pPr>
            <a:r>
              <a:t>2. It reads input data from files and solves optimization models through CPLEX</a:t>
            </a:r>
          </a:p>
          <a:p>
            <a:pPr algn="l">
              <a:spcBef>
                <a:spcPts val="2000"/>
              </a:spcBef>
              <a:defRPr sz="3800"/>
            </a:pPr>
            <a:r>
              <a:t>3. The modular structure makes it easy to test CSP and VRP separately</a:t>
            </a:r>
          </a:p>
          <a:p>
            <a:pPr algn="l">
              <a:spcBef>
                <a:spcPts val="2000"/>
              </a:spcBef>
              <a:defRPr sz="3800"/>
            </a:pPr>
            <a:r>
              <a:t>4. This project shows how decomposition can solve large-scale real-world optimization problems efficiently</a:t>
            </a:r>
          </a:p>
        </p:txBody>
      </p:sp>
      <p:sp>
        <p:nvSpPr>
          <p:cNvPr id="170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Output"/>
          <p:cNvSpPr txBox="1"/>
          <p:nvPr>
            <p:ph type="title"/>
          </p:nvPr>
        </p:nvSpPr>
        <p:spPr>
          <a:xfrm>
            <a:off x="1871856" y="1286454"/>
            <a:ext cx="18684766" cy="1413880"/>
          </a:xfrm>
          <a:prstGeom prst="rect">
            <a:avLst/>
          </a:prstGeom>
        </p:spPr>
        <p:txBody>
          <a:bodyPr/>
          <a:lstStyle>
            <a:lvl1pPr algn="l">
              <a:defRPr sz="84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Output</a:t>
            </a:r>
          </a:p>
        </p:txBody>
      </p:sp>
      <p:pic>
        <p:nvPicPr>
          <p:cNvPr id="173" name="Screenshot 2026-04-23 at 11.06.48 AM.png" descr="Screenshot 2026-04-23 at 11.06.4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82241" y="3883633"/>
            <a:ext cx="7785101" cy="8674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Screenshot 2026-04-23 at 11.07.19 AM.png" descr="Screenshot 2026-04-23 at 11.07.19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120537" y="4259324"/>
            <a:ext cx="9715517" cy="2409069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hank You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178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